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3"/>
  </p:notesMasterIdLst>
  <p:handoutMasterIdLst>
    <p:handoutMasterId r:id="rId4"/>
  </p:handoutMasterIdLst>
  <p:sldIdLst>
    <p:sldId id="2335" r:id="rId2"/>
  </p:sldIdLst>
  <p:sldSz cx="12192000" cy="6858000"/>
  <p:notesSz cx="6858000" cy="9144000"/>
  <p:custDataLst>
    <p:tags r:id="rId5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d. Project process / approach / methodology" id="{A2B9B60E-8F8A-5844-94F7-62738996B720}">
          <p14:sldIdLst>
            <p14:sldId id="2335"/>
          </p14:sldIdLst>
        </p14:section>
        <p14:section name="1e. Project details (timeline, plan, team, data requests etc.)" id="{FEAB0DDD-25DF-C34D-82AD-5A1C04B800F9}">
          <p14:sldIdLst/>
        </p14:section>
        <p14:section name="2. Project overview" id="{D50D576B-1B2B-9D43-B7AC-03F274E534E3}">
          <p14:sldIdLst/>
        </p14:section>
        <p14:section name="5. Risk management slides" id="{EBBBD736-0929-7B4D-BE82-A2F0A914A1F6}">
          <p14:sldIdLst/>
        </p14:section>
        <p14:section name="6. Workshop presentations" id="{7C0C9311-162F-6740-8B67-AD3FAA8FF378}">
          <p14:sldIdLst/>
        </p14:section>
        <p14:section name="6a. Workshop agendas and objectives" id="{FE661F07-ACF9-6B49-A0DB-41C0C32C239F}">
          <p14:sldIdLst/>
        </p14:section>
        <p14:section name="6c. Outline of data-driven workshop deck" id="{B26C91AD-F439-9A4C-B260-4421599E6F8A}">
          <p14:sldIdLst/>
        </p14:section>
        <p14:section name="6d. Outline of co-creation workshop" id="{CBE2A304-934F-0744-8B3D-378D60189CC7}">
          <p14:sldIdLst/>
        </p14:section>
        <p14:section name="6e. Outline of exercise and skill building workshop" id="{684FAC63-C081-C54D-A671-18FFD3A1FDAE}">
          <p14:sldIdLst/>
        </p14:section>
        <p14:section name="Steering Committee / Sounding Board meetings" id="{1F7459C3-553E-104A-A2E8-60A029E873C6}">
          <p14:sldIdLst/>
        </p14:section>
        <p14:section name="7a. General SteerCo slides" id="{C8CCDDC1-DBFC-8C4B-972E-CF9DF111AD2E}">
          <p14:sldIdLst/>
        </p14:section>
        <p14:section name="7b. Sounding Board deck" id="{7F35CDF5-39A5-2745-82B0-EC766DADE5B4}">
          <p14:sldIdLst/>
        </p14:section>
        <p14:section name="8. Board meetings" id="{48703E33-A4BE-7D4A-A6FF-254C5BF1754D}">
          <p14:sldIdLst/>
        </p14:section>
        <p14:section name="8a. Executive summaries" id="{376F5D8A-0CF9-F840-9C92-F1E7250D464B}">
          <p14:sldIdLst/>
        </p14:section>
        <p14:section name="8b. Full board deck #1" id="{3406B5A5-A2F2-C34E-85A6-F429DA4DA6C5}">
          <p14:sldIdLst/>
        </p14:section>
        <p14:section name="8c. Full board deck #2" id="{CE8FD35F-1976-104B-BE0B-D18D4DDA32F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6876"/>
    <p:restoredTop sz="93541"/>
  </p:normalViewPr>
  <p:slideViewPr>
    <p:cSldViewPr snapToGrid="0" showGuides="1">
      <p:cViewPr varScale="1">
        <p:scale>
          <a:sx n="102" d="100"/>
          <a:sy n="102" d="100"/>
        </p:scale>
        <p:origin x="192" y="584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12/16/25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12/16/25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tags" Target="../tags/tag5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9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slideMaster" Target="../slideMasters/slideMaster1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2279F3A-E785-A817-A43D-2AB5BBAC0C6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2279F3A-E785-A817-A43D-2AB5BBAC0C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2A136CB-A23C-4391-1201-587C6D97E9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36875721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7772400" imgH="10058400" progId="TCLayout.ActiveDocument.1">
                  <p:embed/>
                </p:oleObj>
              </mc:Choice>
              <mc:Fallback>
                <p:oleObj name="think-cell Slide" r:id="rId8" imgW="7772400" imgH="10058400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2A136CB-A23C-4391-1201-587C6D97E9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5" name="SlideLogoText">
            <a:extLst>
              <a:ext uri="{FF2B5EF4-FFF2-40B4-BE49-F238E27FC236}">
                <a16:creationId xmlns:a16="http://schemas.microsoft.com/office/drawing/2014/main" id="{F850ED8E-8C63-D562-1223-537C0BF09E39}"/>
              </a:ext>
            </a:extLst>
          </p:cNvPr>
          <p:cNvSpPr txBox="1"/>
          <p:nvPr userDrawn="1">
            <p:custDataLst>
              <p:tags r:id="rId16"/>
            </p:custDataLst>
          </p:nvPr>
        </p:nvSpPr>
        <p:spPr bwMode="black">
          <a:xfrm>
            <a:off x="9943733" y="6499381"/>
            <a:ext cx="1333699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Copyright of </a:t>
            </a:r>
            <a:r>
              <a:rPr lang="en-US" sz="900" kern="1200" dirty="0" err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Slideworks.io</a:t>
            </a:r>
            <a:endParaRPr lang="en-US" sz="900" kern="12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85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tags" Target="../tags/tag10.xml"/><Relationship Id="rId18" Type="http://schemas.openxmlformats.org/officeDocument/2006/relationships/tags" Target="../tags/tag15.xml"/><Relationship Id="rId26" Type="http://schemas.openxmlformats.org/officeDocument/2006/relationships/tags" Target="../tags/tag23.xml"/><Relationship Id="rId39" Type="http://schemas.openxmlformats.org/officeDocument/2006/relationships/tags" Target="../tags/tag36.xml"/><Relationship Id="rId21" Type="http://schemas.openxmlformats.org/officeDocument/2006/relationships/tags" Target="../tags/tag18.xml"/><Relationship Id="rId34" Type="http://schemas.openxmlformats.org/officeDocument/2006/relationships/tags" Target="../tags/tag31.xml"/><Relationship Id="rId42" Type="http://schemas.openxmlformats.org/officeDocument/2006/relationships/tags" Target="../tags/tag39.xml"/><Relationship Id="rId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3.xml"/><Relationship Id="rId29" Type="http://schemas.openxmlformats.org/officeDocument/2006/relationships/tags" Target="../tags/tag26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11" Type="http://schemas.openxmlformats.org/officeDocument/2006/relationships/tags" Target="../tags/tag8.xml"/><Relationship Id="rId24" Type="http://schemas.openxmlformats.org/officeDocument/2006/relationships/tags" Target="../tags/tag21.xml"/><Relationship Id="rId32" Type="http://schemas.openxmlformats.org/officeDocument/2006/relationships/tags" Target="../tags/tag29.xml"/><Relationship Id="rId37" Type="http://schemas.openxmlformats.org/officeDocument/2006/relationships/tags" Target="../tags/tag34.xml"/><Relationship Id="rId40" Type="http://schemas.openxmlformats.org/officeDocument/2006/relationships/tags" Target="../tags/tag37.xml"/><Relationship Id="rId45" Type="http://schemas.openxmlformats.org/officeDocument/2006/relationships/tags" Target="../tags/tag42.xml"/><Relationship Id="rId5" Type="http://schemas.openxmlformats.org/officeDocument/2006/relationships/tags" Target="../tags/tag2.xml"/><Relationship Id="rId15" Type="http://schemas.openxmlformats.org/officeDocument/2006/relationships/tags" Target="../tags/tag12.xml"/><Relationship Id="rId23" Type="http://schemas.openxmlformats.org/officeDocument/2006/relationships/tags" Target="../tags/tag20.xml"/><Relationship Id="rId28" Type="http://schemas.openxmlformats.org/officeDocument/2006/relationships/tags" Target="../tags/tag25.xml"/><Relationship Id="rId36" Type="http://schemas.openxmlformats.org/officeDocument/2006/relationships/tags" Target="../tags/tag33.xml"/><Relationship Id="rId10" Type="http://schemas.openxmlformats.org/officeDocument/2006/relationships/tags" Target="../tags/tag7.xml"/><Relationship Id="rId19" Type="http://schemas.openxmlformats.org/officeDocument/2006/relationships/tags" Target="../tags/tag16.xml"/><Relationship Id="rId31" Type="http://schemas.openxmlformats.org/officeDocument/2006/relationships/tags" Target="../tags/tag28.xml"/><Relationship Id="rId44" Type="http://schemas.openxmlformats.org/officeDocument/2006/relationships/tags" Target="../tags/tag41.xml"/><Relationship Id="rId4" Type="http://schemas.openxmlformats.org/officeDocument/2006/relationships/theme" Target="../theme/theme1.xml"/><Relationship Id="rId9" Type="http://schemas.openxmlformats.org/officeDocument/2006/relationships/tags" Target="../tags/tag6.xml"/><Relationship Id="rId14" Type="http://schemas.openxmlformats.org/officeDocument/2006/relationships/tags" Target="../tags/tag11.xml"/><Relationship Id="rId22" Type="http://schemas.openxmlformats.org/officeDocument/2006/relationships/tags" Target="../tags/tag19.xml"/><Relationship Id="rId27" Type="http://schemas.openxmlformats.org/officeDocument/2006/relationships/tags" Target="../tags/tag24.xml"/><Relationship Id="rId30" Type="http://schemas.openxmlformats.org/officeDocument/2006/relationships/tags" Target="../tags/tag27.xml"/><Relationship Id="rId35" Type="http://schemas.openxmlformats.org/officeDocument/2006/relationships/tags" Target="../tags/tag32.xml"/><Relationship Id="rId43" Type="http://schemas.openxmlformats.org/officeDocument/2006/relationships/tags" Target="../tags/tag40.xml"/><Relationship Id="rId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12" Type="http://schemas.openxmlformats.org/officeDocument/2006/relationships/tags" Target="../tags/tag9.xml"/><Relationship Id="rId17" Type="http://schemas.openxmlformats.org/officeDocument/2006/relationships/tags" Target="../tags/tag14.xml"/><Relationship Id="rId25" Type="http://schemas.openxmlformats.org/officeDocument/2006/relationships/tags" Target="../tags/tag22.xml"/><Relationship Id="rId33" Type="http://schemas.openxmlformats.org/officeDocument/2006/relationships/tags" Target="../tags/tag30.xml"/><Relationship Id="rId38" Type="http://schemas.openxmlformats.org/officeDocument/2006/relationships/tags" Target="../tags/tag35.xml"/><Relationship Id="rId20" Type="http://schemas.openxmlformats.org/officeDocument/2006/relationships/tags" Target="../tags/tag17.xml"/><Relationship Id="rId41" Type="http://schemas.openxmlformats.org/officeDocument/2006/relationships/tags" Target="../tags/tag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943733" y="6499381"/>
            <a:ext cx="1333699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Copyright of </a:t>
            </a:r>
            <a:r>
              <a:rPr lang="en-US" sz="900" kern="1200" dirty="0" err="1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Slideworks.io</a:t>
            </a:r>
            <a:endParaRPr lang="en-US" sz="900" kern="12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31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4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4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32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4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4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33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34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35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14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20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1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1"/>
    <p:sldLayoutId id="2147484188" r:id="rId2"/>
    <p:sldLayoutId id="2147484244" r:id="rId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E84FB-D0A0-9B28-1642-68338E9F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This project will focus on the Due Diligence phase of the M&amp;A process </a:t>
            </a:r>
            <a:endParaRPr lang="en-DK" dirty="0"/>
          </a:p>
        </p:txBody>
      </p:sp>
      <p:sp>
        <p:nvSpPr>
          <p:cNvPr id="29" name="Chevron 10">
            <a:extLst>
              <a:ext uri="{FF2B5EF4-FFF2-40B4-BE49-F238E27FC236}">
                <a16:creationId xmlns:a16="http://schemas.microsoft.com/office/drawing/2014/main" id="{4ADA10AC-CC54-E486-CAAD-0A92BC06276B}"/>
              </a:ext>
            </a:extLst>
          </p:cNvPr>
          <p:cNvSpPr/>
          <p:nvPr/>
        </p:nvSpPr>
        <p:spPr bwMode="auto">
          <a:xfrm>
            <a:off x="2763458" y="2067591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rtl="0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400" b="1" kern="1200" dirty="0">
                <a:solidFill>
                  <a:schemeClr val="bg1"/>
                </a:solidFill>
                <a:ea typeface="+mn-ea"/>
                <a:cs typeface="Times New Roman" pitchFamily="18" charset="0"/>
              </a:rPr>
              <a:t>Target i</a:t>
            </a:r>
            <a:r>
              <a:rPr lang="en-US" sz="1400" b="1" dirty="0">
                <a:solidFill>
                  <a:schemeClr val="bg1"/>
                </a:solidFill>
                <a:cs typeface="Times New Roman" pitchFamily="18" charset="0"/>
              </a:rPr>
              <a:t>dentification</a:t>
            </a:r>
            <a:endParaRPr lang="en-US" sz="1400" b="1" kern="1200" dirty="0">
              <a:solidFill>
                <a:schemeClr val="bg1"/>
              </a:solidFill>
              <a:ea typeface="+mn-ea"/>
              <a:cs typeface="Times New Roman" pitchFamily="18" charset="0"/>
            </a:endParaRPr>
          </a:p>
        </p:txBody>
      </p:sp>
      <p:sp>
        <p:nvSpPr>
          <p:cNvPr id="31" name="Chevron 14">
            <a:extLst>
              <a:ext uri="{FF2B5EF4-FFF2-40B4-BE49-F238E27FC236}">
                <a16:creationId xmlns:a16="http://schemas.microsoft.com/office/drawing/2014/main" id="{B9C5049E-F03D-32F7-9C0F-3C150C9F0E76}"/>
              </a:ext>
            </a:extLst>
          </p:cNvPr>
          <p:cNvSpPr/>
          <p:nvPr/>
        </p:nvSpPr>
        <p:spPr bwMode="auto">
          <a:xfrm>
            <a:off x="4982887" y="2067591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400" b="1" dirty="0">
                <a:solidFill>
                  <a:schemeClr val="bg1"/>
                </a:solidFill>
                <a:cs typeface="Times New Roman" pitchFamily="18" charset="0"/>
              </a:rPr>
              <a:t>Due diligence</a:t>
            </a:r>
          </a:p>
        </p:txBody>
      </p:sp>
      <p:sp>
        <p:nvSpPr>
          <p:cNvPr id="32" name="Chevron 17">
            <a:extLst>
              <a:ext uri="{FF2B5EF4-FFF2-40B4-BE49-F238E27FC236}">
                <a16:creationId xmlns:a16="http://schemas.microsoft.com/office/drawing/2014/main" id="{8C73411B-16FE-D653-45AE-3DC70B290A50}"/>
              </a:ext>
            </a:extLst>
          </p:cNvPr>
          <p:cNvSpPr/>
          <p:nvPr/>
        </p:nvSpPr>
        <p:spPr bwMode="auto">
          <a:xfrm>
            <a:off x="7202316" y="2067591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400" b="1" dirty="0">
                <a:solidFill>
                  <a:schemeClr val="bg1"/>
                </a:solidFill>
                <a:cs typeface="Times New Roman" pitchFamily="18" charset="0"/>
              </a:rPr>
              <a:t>Transaction execution</a:t>
            </a:r>
          </a:p>
        </p:txBody>
      </p:sp>
      <p:sp>
        <p:nvSpPr>
          <p:cNvPr id="33" name="Chevron 103">
            <a:extLst>
              <a:ext uri="{FF2B5EF4-FFF2-40B4-BE49-F238E27FC236}">
                <a16:creationId xmlns:a16="http://schemas.microsoft.com/office/drawing/2014/main" id="{9336FA72-44B6-DBEF-B1C7-829B2BAD3ECA}"/>
              </a:ext>
            </a:extLst>
          </p:cNvPr>
          <p:cNvSpPr/>
          <p:nvPr/>
        </p:nvSpPr>
        <p:spPr bwMode="auto">
          <a:xfrm>
            <a:off x="9421744" y="2067591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400" b="1" dirty="0">
                <a:solidFill>
                  <a:schemeClr val="bg1"/>
                </a:solidFill>
                <a:cs typeface="Times New Roman" pitchFamily="18" charset="0"/>
              </a:rPr>
              <a:t>Post-merger integration</a:t>
            </a:r>
            <a:endParaRPr lang="en-US" sz="1400" b="1" kern="1200" dirty="0">
              <a:solidFill>
                <a:schemeClr val="bg1"/>
              </a:solidFill>
              <a:cs typeface="Times New Roman" pitchFamily="18" charset="0"/>
            </a:endParaRPr>
          </a:p>
        </p:txBody>
      </p:sp>
      <p:sp>
        <p:nvSpPr>
          <p:cNvPr id="34" name="Chevron 167">
            <a:extLst>
              <a:ext uri="{FF2B5EF4-FFF2-40B4-BE49-F238E27FC236}">
                <a16:creationId xmlns:a16="http://schemas.microsoft.com/office/drawing/2014/main" id="{6CDCA47A-65B2-E8EC-DF63-7070668C417D}"/>
              </a:ext>
            </a:extLst>
          </p:cNvPr>
          <p:cNvSpPr/>
          <p:nvPr/>
        </p:nvSpPr>
        <p:spPr bwMode="auto">
          <a:xfrm>
            <a:off x="544029" y="2067591"/>
            <a:ext cx="2351155" cy="734607"/>
          </a:xfrm>
          <a:prstGeom prst="chevron">
            <a:avLst>
              <a:gd name="adj" fmla="val 31818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square" lIns="91440" tIns="45715" rIns="0" bIns="45715" rtlCol="0" anchor="ctr">
            <a:noAutofit/>
          </a:bodyPr>
          <a:lstStyle/>
          <a:p>
            <a:pPr algn="ctr" defTabSz="623853" fontAlgn="base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</a:pPr>
            <a:r>
              <a:rPr lang="en-US" sz="1400" b="1" dirty="0">
                <a:solidFill>
                  <a:schemeClr val="bg1"/>
                </a:solidFill>
                <a:cs typeface="Times New Roman" pitchFamily="18" charset="0"/>
              </a:rPr>
              <a:t>M&amp;A strategy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9EB36B-4A03-9A7A-8522-53D0D4E6E039}"/>
              </a:ext>
            </a:extLst>
          </p:cNvPr>
          <p:cNvSpPr/>
          <p:nvPr/>
        </p:nvSpPr>
        <p:spPr>
          <a:xfrm>
            <a:off x="544029" y="2866476"/>
            <a:ext cx="2086201" cy="1138773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M&amp;A objectives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Organizing for M&amp;A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Guiding principles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Target screening criteria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FD13808-41D0-6F49-DF46-E9D58B181A99}"/>
              </a:ext>
            </a:extLst>
          </p:cNvPr>
          <p:cNvSpPr/>
          <p:nvPr/>
        </p:nvSpPr>
        <p:spPr>
          <a:xfrm>
            <a:off x="9421744" y="2866476"/>
            <a:ext cx="2086201" cy="1980029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Post-merger strategy and high-level plan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Day 1 readiness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100-day plan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Synergy realization and detailed integration plans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Implementation and monitoring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C35204-2B09-D01A-CE29-324046709419}"/>
              </a:ext>
            </a:extLst>
          </p:cNvPr>
          <p:cNvSpPr/>
          <p:nvPr/>
        </p:nvSpPr>
        <p:spPr>
          <a:xfrm>
            <a:off x="2763458" y="2866476"/>
            <a:ext cx="2086201" cy="2451953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Target identification 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Data collection and </a:t>
            </a:r>
            <a:br>
              <a:rPr lang="en-US" sz="1200"/>
            </a:br>
            <a:r>
              <a:rPr lang="en-US" sz="1200"/>
              <a:t>high-level assessment 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Target shortlisting 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Indicative valuation and financial analysis 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Target approval for due diligence phase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/>
              <a:t>Initiation of contact and letter of intent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D3654B-8EB7-5DC6-D9B1-0D9A9B3D5B8D}"/>
              </a:ext>
            </a:extLst>
          </p:cNvPr>
          <p:cNvSpPr/>
          <p:nvPr/>
        </p:nvSpPr>
        <p:spPr>
          <a:xfrm>
            <a:off x="4982887" y="2866476"/>
            <a:ext cx="2086201" cy="3293209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Due diligence project plan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Due diligence hypothesis framework and approach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Commercial, financial, operations, IT, management, legal and environmental due diligence 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Financial modelling </a:t>
            </a:r>
            <a:br>
              <a:rPr lang="en-US" sz="1200" dirty="0"/>
            </a:br>
            <a:r>
              <a:rPr lang="en-US" sz="1200" dirty="0"/>
              <a:t>and business case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Synergy assessment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Summary of strategic recommendations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Next steps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16B8475-4B9C-2AA7-66BE-1CC8073E3E7D}"/>
              </a:ext>
            </a:extLst>
          </p:cNvPr>
          <p:cNvSpPr/>
          <p:nvPr/>
        </p:nvSpPr>
        <p:spPr>
          <a:xfrm>
            <a:off x="7202316" y="2866476"/>
            <a:ext cx="1711407" cy="851515"/>
          </a:xfrm>
          <a:prstGeom prst="rect">
            <a:avLst/>
          </a:prstGeom>
          <a:effectLst/>
        </p:spPr>
        <p:txBody>
          <a:bodyPr wrap="square" lIns="0">
            <a:spAutoFit/>
          </a:bodyPr>
          <a:lstStyle/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Structure of deal 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Negotiation strategy </a:t>
            </a:r>
          </a:p>
          <a:p>
            <a:pPr marL="169863" indent="-169863">
              <a:spcBef>
                <a:spcPts val="400"/>
              </a:spcBef>
              <a:spcAft>
                <a:spcPts val="400"/>
              </a:spcAft>
              <a:buFont typeface="+mj-lt"/>
              <a:buAutoNum type="arabicPeriod"/>
              <a:defRPr/>
            </a:pPr>
            <a:r>
              <a:rPr lang="en-US" sz="1200" dirty="0"/>
              <a:t>Signing and closing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346B25-174B-47AA-38A3-90F41F3D68D8}"/>
              </a:ext>
            </a:extLst>
          </p:cNvPr>
          <p:cNvSpPr txBox="1"/>
          <p:nvPr/>
        </p:nvSpPr>
        <p:spPr>
          <a:xfrm>
            <a:off x="467806" y="1695536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Phase 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3FD1C5-33D6-7729-71CF-80A00ED1AC0E}"/>
              </a:ext>
            </a:extLst>
          </p:cNvPr>
          <p:cNvSpPr txBox="1"/>
          <p:nvPr/>
        </p:nvSpPr>
        <p:spPr>
          <a:xfrm>
            <a:off x="2763458" y="1695536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474B00B-7AE9-9E9A-8F9C-96174EB6E937}"/>
              </a:ext>
            </a:extLst>
          </p:cNvPr>
          <p:cNvSpPr txBox="1"/>
          <p:nvPr/>
        </p:nvSpPr>
        <p:spPr>
          <a:xfrm>
            <a:off x="4929061" y="1695536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A9B87F-D59E-E6EC-0B87-53C15B352473}"/>
              </a:ext>
            </a:extLst>
          </p:cNvPr>
          <p:cNvSpPr txBox="1"/>
          <p:nvPr/>
        </p:nvSpPr>
        <p:spPr>
          <a:xfrm>
            <a:off x="7202316" y="1695536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82553D-0DFD-A732-7B68-6C6C129112EE}"/>
              </a:ext>
            </a:extLst>
          </p:cNvPr>
          <p:cNvSpPr txBox="1"/>
          <p:nvPr/>
        </p:nvSpPr>
        <p:spPr>
          <a:xfrm>
            <a:off x="9421744" y="1695536"/>
            <a:ext cx="13491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400" b="1" dirty="0"/>
              <a:t>Phase 5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7BD5A21-2847-B762-F671-9D5B02ECB8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426CC7-AEFB-DF70-8DDE-C5AAE165A63A}"/>
              </a:ext>
            </a:extLst>
          </p:cNvPr>
          <p:cNvSpPr/>
          <p:nvPr/>
        </p:nvSpPr>
        <p:spPr>
          <a:xfrm>
            <a:off x="9644063" y="1"/>
            <a:ext cx="2547937" cy="12301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sq">
            <a:solidFill>
              <a:schemeClr val="tx1"/>
            </a:solidFill>
            <a:prstDash val="dash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600" dirty="0">
                <a:solidFill>
                  <a:schemeClr val="tx1"/>
                </a:solidFill>
              </a:rPr>
              <a:t>Slideworks note: Insert whatever process is most relevant for your case</a:t>
            </a: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EAC91224-9E36-2551-673C-77B2199D8B69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2032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Arial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38;p14">
            <a:extLst>
              <a:ext uri="{FF2B5EF4-FFF2-40B4-BE49-F238E27FC236}">
                <a16:creationId xmlns:a16="http://schemas.microsoft.com/office/drawing/2014/main" id="{2E38B7FA-9DC5-AF93-ADE2-B804CBA0BAFB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Arial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82033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537</TotalTime>
  <Words>165</Words>
  <Application>Microsoft Macintosh PowerPoint</Application>
  <PresentationFormat>Bredbild</PresentationFormat>
  <Paragraphs>39</Paragraphs>
  <Slides>1</Slides>
  <Notes>0</Notes>
  <HiddenSlides>0</HiddenSlides>
  <MMClips>0</MMClips>
  <ScaleCrop>false</ScaleCrop>
  <HeadingPairs>
    <vt:vector size="8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Serverprogram för OLE-inbäddning</vt:lpstr>
      </vt:variant>
      <vt:variant>
        <vt:i4>1</vt:i4>
      </vt:variant>
      <vt:variant>
        <vt:lpstr>Bildrubriker</vt:lpstr>
      </vt:variant>
      <vt:variant>
        <vt:i4>1</vt:i4>
      </vt:variant>
    </vt:vector>
  </HeadingPairs>
  <TitlesOfParts>
    <vt:vector size="7" baseType="lpstr">
      <vt:lpstr>Arial</vt:lpstr>
      <vt:lpstr>Segoe UI</vt:lpstr>
      <vt:lpstr>Times New Roman</vt:lpstr>
      <vt:lpstr>Wingdings</vt:lpstr>
      <vt:lpstr>Slideworks</vt:lpstr>
      <vt:lpstr>think-cell Slide</vt:lpstr>
      <vt:lpstr>This project will focus on the Due Diligence phase of the M&amp;A process 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Project Management Toolkit</dc:title>
  <dc:subject>Project management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 </dc:description>
  <cp:lastModifiedBy>Carl Adam Briggert</cp:lastModifiedBy>
  <cp:revision>405</cp:revision>
  <dcterms:created xsi:type="dcterms:W3CDTF">2025-08-23T09:22:07Z</dcterms:created>
  <dcterms:modified xsi:type="dcterms:W3CDTF">2025-12-16T08:48:48Z</dcterms:modified>
  <cp:category>Management consulting, presentation design, business</cp:category>
</cp:coreProperties>
</file>