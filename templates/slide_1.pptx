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3"/>
  </p:notesMasterIdLst>
  <p:handoutMasterIdLst>
    <p:handoutMasterId r:id="rId4"/>
  </p:handoutMasterIdLst>
  <p:sldIdLst>
    <p:sldId id="2147473824" r:id="rId2"/>
  </p:sldIdLst>
  <p:sldSz cx="12192000" cy="6858000"/>
  <p:notesSz cx="6858000" cy="9144000"/>
  <p:custDataLst>
    <p:tags r:id="rId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d. Project process / approach / methodology" id="{A2B9B60E-8F8A-5844-94F7-62738996B720}">
          <p14:sldIdLst>
            <p14:sldId id="2147473824"/>
          </p14:sldIdLst>
        </p14:section>
        <p14:section name="5. Risk management slides" id="{EBBBD736-0929-7B4D-BE82-A2F0A914A1F6}">
          <p14:sldIdLst/>
        </p14:section>
        <p14:section name="6. Workshop presentations" id="{7C0C9311-162F-6740-8B67-AD3FAA8FF378}">
          <p14:sldIdLst/>
        </p14:section>
        <p14:section name="6a. Workshop agendas and objectives" id="{FE661F07-ACF9-6B49-A0DB-41C0C32C239F}">
          <p14:sldIdLst/>
        </p14:section>
        <p14:section name="6c. Outline of data-driven workshop deck" id="{B26C91AD-F439-9A4C-B260-4421599E6F8A}">
          <p14:sldIdLst/>
        </p14:section>
        <p14:section name="6d. Outline of co-creation workshop" id="{CBE2A304-934F-0744-8B3D-378D60189CC7}">
          <p14:sldIdLst/>
        </p14:section>
        <p14:section name="6e. Outline of exercise and skill building workshop" id="{684FAC63-C081-C54D-A671-18FFD3A1FDAE}">
          <p14:sldIdLst/>
        </p14:section>
        <p14:section name="Steering Committee / Sounding Board meetings" id="{1F7459C3-553E-104A-A2E8-60A029E873C6}">
          <p14:sldIdLst/>
        </p14:section>
        <p14:section name="7a. General SteerCo slides" id="{C8CCDDC1-DBFC-8C4B-972E-CF9DF111AD2E}">
          <p14:sldIdLst/>
        </p14:section>
        <p14:section name="7b. Sounding Board deck" id="{7F35CDF5-39A5-2745-82B0-EC766DADE5B4}">
          <p14:sldIdLst/>
        </p14:section>
        <p14:section name="8. Board meetings" id="{48703E33-A4BE-7D4A-A6FF-254C5BF1754D}">
          <p14:sldIdLst/>
        </p14:section>
        <p14:section name="8a. Executive summaries" id="{376F5D8A-0CF9-F840-9C92-F1E7250D464B}">
          <p14:sldIdLst/>
        </p14:section>
        <p14:section name="8b. Full board deck #1" id="{3406B5A5-A2F2-C34E-85A6-F429DA4DA6C5}">
          <p14:sldIdLst/>
        </p14:section>
        <p14:section name="8c. Full board deck #2" id="{CE8FD35F-1976-104B-BE0B-D18D4DDA32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876"/>
    <p:restoredTop sz="93541"/>
  </p:normalViewPr>
  <p:slideViewPr>
    <p:cSldViewPr snapToGrid="0" showGuides="1">
      <p:cViewPr varScale="1">
        <p:scale>
          <a:sx n="102" d="100"/>
          <a:sy n="102" d="100"/>
        </p:scale>
        <p:origin x="192" y="584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12/16/25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12/16/25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5" name="SlideLogoText">
            <a:extLst>
              <a:ext uri="{FF2B5EF4-FFF2-40B4-BE49-F238E27FC236}">
                <a16:creationId xmlns:a16="http://schemas.microsoft.com/office/drawing/2014/main" id="{F850ED8E-8C63-D562-1223-537C0BF09E39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 bwMode="black"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85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26" Type="http://schemas.openxmlformats.org/officeDocument/2006/relationships/tags" Target="../tags/tag23.xml"/><Relationship Id="rId39" Type="http://schemas.openxmlformats.org/officeDocument/2006/relationships/tags" Target="../tags/tag36.xml"/><Relationship Id="rId21" Type="http://schemas.openxmlformats.org/officeDocument/2006/relationships/tags" Target="../tags/tag18.xml"/><Relationship Id="rId34" Type="http://schemas.openxmlformats.org/officeDocument/2006/relationships/tags" Target="../tags/tag31.xml"/><Relationship Id="rId42" Type="http://schemas.openxmlformats.org/officeDocument/2006/relationships/tags" Target="../tags/tag39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9" Type="http://schemas.openxmlformats.org/officeDocument/2006/relationships/tags" Target="../tags/tag26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tags" Target="../tags/tag21.xml"/><Relationship Id="rId32" Type="http://schemas.openxmlformats.org/officeDocument/2006/relationships/tags" Target="../tags/tag29.xml"/><Relationship Id="rId37" Type="http://schemas.openxmlformats.org/officeDocument/2006/relationships/tags" Target="../tags/tag34.xml"/><Relationship Id="rId40" Type="http://schemas.openxmlformats.org/officeDocument/2006/relationships/tags" Target="../tags/tag37.xml"/><Relationship Id="rId45" Type="http://schemas.openxmlformats.org/officeDocument/2006/relationships/tags" Target="../tags/tag42.xml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tags" Target="../tags/tag20.xml"/><Relationship Id="rId28" Type="http://schemas.openxmlformats.org/officeDocument/2006/relationships/tags" Target="../tags/tag25.xml"/><Relationship Id="rId36" Type="http://schemas.openxmlformats.org/officeDocument/2006/relationships/tags" Target="../tags/tag33.xml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31" Type="http://schemas.openxmlformats.org/officeDocument/2006/relationships/tags" Target="../tags/tag28.xml"/><Relationship Id="rId44" Type="http://schemas.openxmlformats.org/officeDocument/2006/relationships/tags" Target="../tags/tag41.xml"/><Relationship Id="rId4" Type="http://schemas.openxmlformats.org/officeDocument/2006/relationships/theme" Target="../theme/theme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Relationship Id="rId27" Type="http://schemas.openxmlformats.org/officeDocument/2006/relationships/tags" Target="../tags/tag24.xml"/><Relationship Id="rId30" Type="http://schemas.openxmlformats.org/officeDocument/2006/relationships/tags" Target="../tags/tag27.xml"/><Relationship Id="rId35" Type="http://schemas.openxmlformats.org/officeDocument/2006/relationships/tags" Target="../tags/tag32.xml"/><Relationship Id="rId43" Type="http://schemas.openxmlformats.org/officeDocument/2006/relationships/tags" Target="../tags/tag40.xml"/><Relationship Id="rId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5" Type="http://schemas.openxmlformats.org/officeDocument/2006/relationships/tags" Target="../tags/tag22.xml"/><Relationship Id="rId33" Type="http://schemas.openxmlformats.org/officeDocument/2006/relationships/tags" Target="../tags/tag30.xml"/><Relationship Id="rId38" Type="http://schemas.openxmlformats.org/officeDocument/2006/relationships/tags" Target="../tags/tag35.xml"/><Relationship Id="rId20" Type="http://schemas.openxmlformats.org/officeDocument/2006/relationships/tags" Target="../tags/tag17.xml"/><Relationship Id="rId41" Type="http://schemas.openxmlformats.org/officeDocument/2006/relationships/tags" Target="../tags/tag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244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D754-DFED-8AC0-509E-EE79D809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A9BF-C53A-7EC0-262F-4340E070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We have just completed the Diagnostic stage of the three-stage Operational Excellence process</a:t>
            </a:r>
            <a:endParaRPr lang="en-D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36A2E-8FF1-85A7-D4EE-FAD73E2EA7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D929BF71-0643-539D-F224-7E8CC5AF25AB}"/>
              </a:ext>
            </a:extLst>
          </p:cNvPr>
          <p:cNvSpPr/>
          <p:nvPr/>
        </p:nvSpPr>
        <p:spPr>
          <a:xfrm>
            <a:off x="737938" y="2875575"/>
            <a:ext cx="3561269" cy="671513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Diagnostic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9A9EF31C-24F3-750F-C519-F558F4349549}"/>
              </a:ext>
            </a:extLst>
          </p:cNvPr>
          <p:cNvSpPr/>
          <p:nvPr/>
        </p:nvSpPr>
        <p:spPr>
          <a:xfrm>
            <a:off x="4072478" y="2875575"/>
            <a:ext cx="3804157" cy="6732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Solution design</a:t>
            </a: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1A9E71D3-93A3-DCFE-593E-280B123F8378}"/>
              </a:ext>
            </a:extLst>
          </p:cNvPr>
          <p:cNvSpPr/>
          <p:nvPr/>
        </p:nvSpPr>
        <p:spPr>
          <a:xfrm>
            <a:off x="7649906" y="2875575"/>
            <a:ext cx="3804157" cy="6732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Implementation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C95CAF-2C78-AF3C-5287-997BBD6B7357}"/>
              </a:ext>
            </a:extLst>
          </p:cNvPr>
          <p:cNvSpPr txBox="1"/>
          <p:nvPr/>
        </p:nvSpPr>
        <p:spPr>
          <a:xfrm>
            <a:off x="737938" y="3637575"/>
            <a:ext cx="32339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Create a baseline understanding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Identify and prioritize opportunities to improve efficiency and effectiveness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3BB5E6-07A7-66E2-2442-9FC917268B75}"/>
              </a:ext>
            </a:extLst>
          </p:cNvPr>
          <p:cNvSpPr txBox="1"/>
          <p:nvPr/>
        </p:nvSpPr>
        <p:spPr>
          <a:xfrm>
            <a:off x="4072478" y="3637575"/>
            <a:ext cx="35774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Develop detailed implementation plans to capture value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Prepare organization for implementation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4394C4-B7F5-32DF-EDE3-38C34CBDCF02}"/>
              </a:ext>
            </a:extLst>
          </p:cNvPr>
          <p:cNvSpPr txBox="1"/>
          <p:nvPr/>
        </p:nvSpPr>
        <p:spPr>
          <a:xfrm>
            <a:off x="1389860" y="5482446"/>
            <a:ext cx="2257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What to do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F276D0-D873-402B-6D02-F850CD4B2FEC}"/>
              </a:ext>
            </a:extLst>
          </p:cNvPr>
          <p:cNvSpPr txBox="1"/>
          <p:nvPr/>
        </p:nvSpPr>
        <p:spPr>
          <a:xfrm>
            <a:off x="4845844" y="5480304"/>
            <a:ext cx="2257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How to do 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3DA1C5-678D-70B9-9377-2ACA88141CA6}"/>
              </a:ext>
            </a:extLst>
          </p:cNvPr>
          <p:cNvSpPr txBox="1"/>
          <p:nvPr/>
        </p:nvSpPr>
        <p:spPr>
          <a:xfrm>
            <a:off x="7649906" y="3637575"/>
            <a:ext cx="35146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Implement workstreams and drive change in organization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00" dirty="0"/>
              <a:t>Continuously measure progress and impact and reassess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62C7FD-A83D-6014-A183-9D02295D96A1}"/>
              </a:ext>
            </a:extLst>
          </p:cNvPr>
          <p:cNvSpPr txBox="1"/>
          <p:nvPr/>
        </p:nvSpPr>
        <p:spPr>
          <a:xfrm>
            <a:off x="8423272" y="5482446"/>
            <a:ext cx="2257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Do it</a:t>
            </a:r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FB8914E6-6FC0-1B94-A392-C51856D22440}"/>
              </a:ext>
            </a:extLst>
          </p:cNvPr>
          <p:cNvSpPr/>
          <p:nvPr/>
        </p:nvSpPr>
        <p:spPr>
          <a:xfrm rot="10800000">
            <a:off x="1470752" y="4992985"/>
            <a:ext cx="2095641" cy="24651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B756EAE6-3BD5-795E-C7C1-BADC7FB8AF3E}"/>
              </a:ext>
            </a:extLst>
          </p:cNvPr>
          <p:cNvSpPr/>
          <p:nvPr/>
        </p:nvSpPr>
        <p:spPr>
          <a:xfrm rot="10800000">
            <a:off x="4926736" y="4992985"/>
            <a:ext cx="2095641" cy="24651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Triangle 38">
            <a:extLst>
              <a:ext uri="{FF2B5EF4-FFF2-40B4-BE49-F238E27FC236}">
                <a16:creationId xmlns:a16="http://schemas.microsoft.com/office/drawing/2014/main" id="{23CCCFB9-407D-F99E-EF5D-A9DC0E51E623}"/>
              </a:ext>
            </a:extLst>
          </p:cNvPr>
          <p:cNvSpPr/>
          <p:nvPr/>
        </p:nvSpPr>
        <p:spPr>
          <a:xfrm rot="10800000">
            <a:off x="8504164" y="4992985"/>
            <a:ext cx="2095641" cy="24651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B0E7B2-7CEA-4FFE-0FD7-014401345BBD}"/>
              </a:ext>
            </a:extLst>
          </p:cNvPr>
          <p:cNvSpPr/>
          <p:nvPr/>
        </p:nvSpPr>
        <p:spPr>
          <a:xfrm>
            <a:off x="9644063" y="1"/>
            <a:ext cx="2547937" cy="12301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tx1"/>
                </a:solidFill>
              </a:rPr>
              <a:t>Slideworks note: Insert whatever process is most relevant for your case</a:t>
            </a:r>
          </a:p>
        </p:txBody>
      </p:sp>
      <p:sp>
        <p:nvSpPr>
          <p:cNvPr id="5" name="Google Shape;507;p14">
            <a:extLst>
              <a:ext uri="{FF2B5EF4-FFF2-40B4-BE49-F238E27FC236}">
                <a16:creationId xmlns:a16="http://schemas.microsoft.com/office/drawing/2014/main" id="{466BA664-AF61-DFC6-B535-37806FED349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5A3C4A2E-503A-770C-DBCA-89C8ACC80B0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D5CA2-4218-8983-0551-52B0062D61C3}"/>
              </a:ext>
            </a:extLst>
          </p:cNvPr>
          <p:cNvSpPr txBox="1"/>
          <p:nvPr/>
        </p:nvSpPr>
        <p:spPr>
          <a:xfrm>
            <a:off x="3204703" y="2017489"/>
            <a:ext cx="1735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accent6"/>
                </a:solidFill>
              </a:rPr>
              <a:t>WE ARE HERE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CD2F5A-3CF9-786C-67F4-FC5F744CBD8A}"/>
              </a:ext>
            </a:extLst>
          </p:cNvPr>
          <p:cNvCxnSpPr>
            <a:stCxn id="9" idx="2"/>
          </p:cNvCxnSpPr>
          <p:nvPr/>
        </p:nvCxnSpPr>
        <p:spPr>
          <a:xfrm>
            <a:off x="4072478" y="2356043"/>
            <a:ext cx="0" cy="504000"/>
          </a:xfrm>
          <a:prstGeom prst="straightConnector1">
            <a:avLst/>
          </a:prstGeom>
          <a:ln w="28575">
            <a:solidFill>
              <a:schemeClr val="accent6">
                <a:alpha val="99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D9B189F-DEAB-A5BD-6853-189FB7D26520}"/>
              </a:ext>
            </a:extLst>
          </p:cNvPr>
          <p:cNvSpPr txBox="1"/>
          <p:nvPr/>
        </p:nvSpPr>
        <p:spPr>
          <a:xfrm>
            <a:off x="1518447" y="249489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[x] months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31A1B8-B01E-394B-7243-509204DDEDE6}"/>
              </a:ext>
            </a:extLst>
          </p:cNvPr>
          <p:cNvSpPr txBox="1"/>
          <p:nvPr/>
        </p:nvSpPr>
        <p:spPr>
          <a:xfrm>
            <a:off x="4974431" y="249489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[x] months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F01A7C-072C-366C-7003-825C3CB6C0DC}"/>
              </a:ext>
            </a:extLst>
          </p:cNvPr>
          <p:cNvSpPr txBox="1"/>
          <p:nvPr/>
        </p:nvSpPr>
        <p:spPr>
          <a:xfrm>
            <a:off x="8551859" y="2494893"/>
            <a:ext cx="2000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[x] months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5A7B44-DE31-E924-BD17-69DE6022EDF8}"/>
              </a:ext>
            </a:extLst>
          </p:cNvPr>
          <p:cNvSpPr/>
          <p:nvPr/>
        </p:nvSpPr>
        <p:spPr>
          <a:xfrm>
            <a:off x="467806" y="1368884"/>
            <a:ext cx="40126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Overview of Operational Excellence process:</a:t>
            </a:r>
          </a:p>
        </p:txBody>
      </p:sp>
    </p:spTree>
    <p:extLst>
      <p:ext uri="{BB962C8B-B14F-4D97-AF65-F5344CB8AC3E}">
        <p14:creationId xmlns:p14="http://schemas.microsoft.com/office/powerpoint/2010/main" val="1342752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537</TotalTime>
  <Words>105</Words>
  <Application>Microsoft Macintosh PowerPoint</Application>
  <PresentationFormat>Bredbild</PresentationFormat>
  <Paragraphs>21</Paragraphs>
  <Slides>1</Slides>
  <Notes>0</Notes>
  <HiddenSlides>0</HiddenSlides>
  <MMClips>0</MMClips>
  <ScaleCrop>false</ScaleCrop>
  <HeadingPairs>
    <vt:vector size="8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6" baseType="lpstr">
      <vt:lpstr>Arial</vt:lpstr>
      <vt:lpstr>Segoe UI</vt:lpstr>
      <vt:lpstr>Wingdings</vt:lpstr>
      <vt:lpstr>Slideworks</vt:lpstr>
      <vt:lpstr>think-cell Slide</vt:lpstr>
      <vt:lpstr>We have just completed the Diagnostic stage of the three-stage Operational Excellence process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Project Management Toolkit</dc:title>
  <dc:subject>Project management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Carl Adam Briggert</cp:lastModifiedBy>
  <cp:revision>405</cp:revision>
  <dcterms:created xsi:type="dcterms:W3CDTF">2025-08-23T09:22:07Z</dcterms:created>
  <dcterms:modified xsi:type="dcterms:W3CDTF">2025-12-16T08:48:29Z</dcterms:modified>
  <cp:category>Management consulting, presentation design, business</cp:category>
</cp:coreProperties>
</file>