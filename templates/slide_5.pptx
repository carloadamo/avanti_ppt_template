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0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3"/>
  </p:notesMasterIdLst>
  <p:handoutMasterIdLst>
    <p:handoutMasterId r:id="rId4"/>
  </p:handoutMasterIdLst>
  <p:sldIdLst>
    <p:sldId id="2147473362" r:id="rId2"/>
  </p:sldIdLst>
  <p:sldSz cx="12192000" cy="6858000"/>
  <p:notesSz cx="6858000" cy="9144000"/>
  <p:custDataLst>
    <p:tags r:id="rId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d. Project process / approach / methodology" id="{A2B9B60E-8F8A-5844-94F7-62738996B720}">
          <p14:sldIdLst/>
        </p14:section>
        <p14:section name="1e. Project details (timeline, plan, team, data requests etc.)" id="{FEAB0DDD-25DF-C34D-82AD-5A1C04B800F9}">
          <p14:sldIdLst/>
        </p14:section>
        <p14:section name="2. Project overview" id="{D50D576B-1B2B-9D43-B7AC-03F274E534E3}">
          <p14:sldIdLst>
            <p14:sldId id="2147473362"/>
          </p14:sldIdLst>
        </p14:section>
        <p14:section name="5. Risk management slides" id="{EBBBD736-0929-7B4D-BE82-A2F0A914A1F6}">
          <p14:sldIdLst/>
        </p14:section>
        <p14:section name="6. Workshop presentations" id="{7C0C9311-162F-6740-8B67-AD3FAA8FF378}">
          <p14:sldIdLst/>
        </p14:section>
        <p14:section name="6a. Workshop agendas and objectives" id="{FE661F07-ACF9-6B49-A0DB-41C0C32C239F}">
          <p14:sldIdLst/>
        </p14:section>
        <p14:section name="6c. Outline of data-driven workshop deck" id="{B26C91AD-F439-9A4C-B260-4421599E6F8A}">
          <p14:sldIdLst/>
        </p14:section>
        <p14:section name="6d. Outline of co-creation workshop" id="{CBE2A304-934F-0744-8B3D-378D60189CC7}">
          <p14:sldIdLst/>
        </p14:section>
        <p14:section name="6e. Outline of exercise and skill building workshop" id="{684FAC63-C081-C54D-A671-18FFD3A1FDAE}">
          <p14:sldIdLst/>
        </p14:section>
        <p14:section name="Steering Committee / Sounding Board meetings" id="{1F7459C3-553E-104A-A2E8-60A029E873C6}">
          <p14:sldIdLst/>
        </p14:section>
        <p14:section name="7a. General SteerCo slides" id="{C8CCDDC1-DBFC-8C4B-972E-CF9DF111AD2E}">
          <p14:sldIdLst/>
        </p14:section>
        <p14:section name="7b. Sounding Board deck" id="{7F35CDF5-39A5-2745-82B0-EC766DADE5B4}">
          <p14:sldIdLst/>
        </p14:section>
        <p14:section name="8. Board meetings" id="{48703E33-A4BE-7D4A-A6FF-254C5BF1754D}">
          <p14:sldIdLst/>
        </p14:section>
        <p14:section name="8a. Executive summaries" id="{376F5D8A-0CF9-F840-9C92-F1E7250D464B}">
          <p14:sldIdLst/>
        </p14:section>
        <p14:section name="8b. Full board deck #1" id="{3406B5A5-A2F2-C34E-85A6-F429DA4DA6C5}">
          <p14:sldIdLst/>
        </p14:section>
        <p14:section name="8c. Full board deck #2" id="{CE8FD35F-1976-104B-BE0B-D18D4DDA32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876"/>
    <p:restoredTop sz="93541"/>
  </p:normalViewPr>
  <p:slideViewPr>
    <p:cSldViewPr snapToGrid="0" showGuides="1">
      <p:cViewPr varScale="1">
        <p:scale>
          <a:sx n="102" d="100"/>
          <a:sy n="102" d="100"/>
        </p:scale>
        <p:origin x="192" y="584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12/16/25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12/16/25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6FDE-23D1-1B58-3D61-E9669DB19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EF69F-8ABC-2C39-BB5D-DB99E3E98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09579-156C-3B80-4C89-42F3BBD2B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C334B1B-4AD2-72EB-B237-C62085BB20A7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B48CA-5767-6EC1-3417-12405B79B4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DE83B-E33E-3A39-88CE-3EAF846E9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6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5" name="SlideLogoText">
            <a:extLst>
              <a:ext uri="{FF2B5EF4-FFF2-40B4-BE49-F238E27FC236}">
                <a16:creationId xmlns:a16="http://schemas.microsoft.com/office/drawing/2014/main" id="{F850ED8E-8C63-D562-1223-537C0BF09E39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 bwMode="black"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85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26" Type="http://schemas.openxmlformats.org/officeDocument/2006/relationships/tags" Target="../tags/tag23.xml"/><Relationship Id="rId39" Type="http://schemas.openxmlformats.org/officeDocument/2006/relationships/tags" Target="../tags/tag36.xml"/><Relationship Id="rId21" Type="http://schemas.openxmlformats.org/officeDocument/2006/relationships/tags" Target="../tags/tag18.xml"/><Relationship Id="rId34" Type="http://schemas.openxmlformats.org/officeDocument/2006/relationships/tags" Target="../tags/tag31.xml"/><Relationship Id="rId42" Type="http://schemas.openxmlformats.org/officeDocument/2006/relationships/tags" Target="../tags/tag39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9" Type="http://schemas.openxmlformats.org/officeDocument/2006/relationships/tags" Target="../tags/tag26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tags" Target="../tags/tag21.xml"/><Relationship Id="rId32" Type="http://schemas.openxmlformats.org/officeDocument/2006/relationships/tags" Target="../tags/tag29.xml"/><Relationship Id="rId37" Type="http://schemas.openxmlformats.org/officeDocument/2006/relationships/tags" Target="../tags/tag34.xml"/><Relationship Id="rId40" Type="http://schemas.openxmlformats.org/officeDocument/2006/relationships/tags" Target="../tags/tag37.xml"/><Relationship Id="rId45" Type="http://schemas.openxmlformats.org/officeDocument/2006/relationships/tags" Target="../tags/tag42.xml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tags" Target="../tags/tag20.xml"/><Relationship Id="rId28" Type="http://schemas.openxmlformats.org/officeDocument/2006/relationships/tags" Target="../tags/tag25.xml"/><Relationship Id="rId36" Type="http://schemas.openxmlformats.org/officeDocument/2006/relationships/tags" Target="../tags/tag33.xml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31" Type="http://schemas.openxmlformats.org/officeDocument/2006/relationships/tags" Target="../tags/tag28.xml"/><Relationship Id="rId44" Type="http://schemas.openxmlformats.org/officeDocument/2006/relationships/tags" Target="../tags/tag41.xml"/><Relationship Id="rId4" Type="http://schemas.openxmlformats.org/officeDocument/2006/relationships/theme" Target="../theme/theme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Relationship Id="rId27" Type="http://schemas.openxmlformats.org/officeDocument/2006/relationships/tags" Target="../tags/tag24.xml"/><Relationship Id="rId30" Type="http://schemas.openxmlformats.org/officeDocument/2006/relationships/tags" Target="../tags/tag27.xml"/><Relationship Id="rId35" Type="http://schemas.openxmlformats.org/officeDocument/2006/relationships/tags" Target="../tags/tag32.xml"/><Relationship Id="rId43" Type="http://schemas.openxmlformats.org/officeDocument/2006/relationships/tags" Target="../tags/tag40.xml"/><Relationship Id="rId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5" Type="http://schemas.openxmlformats.org/officeDocument/2006/relationships/tags" Target="../tags/tag22.xml"/><Relationship Id="rId33" Type="http://schemas.openxmlformats.org/officeDocument/2006/relationships/tags" Target="../tags/tag30.xml"/><Relationship Id="rId38" Type="http://schemas.openxmlformats.org/officeDocument/2006/relationships/tags" Target="../tags/tag35.xml"/><Relationship Id="rId20" Type="http://schemas.openxmlformats.org/officeDocument/2006/relationships/tags" Target="../tags/tag17.xml"/><Relationship Id="rId41" Type="http://schemas.openxmlformats.org/officeDocument/2006/relationships/tags" Target="../tags/tag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244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B790F-734B-8B3C-126E-17007772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62AFA745-109E-8375-096D-CDC4CFFA15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AFA745-109E-8375-096D-CDC4CFFA15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58CE46E7-DA9B-5169-6F4B-04927546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 dirty="0"/>
              <a:t>Project charter for Project [insert name]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9854007-A618-A737-53E6-858B119A9845}"/>
              </a:ext>
            </a:extLst>
          </p:cNvPr>
          <p:cNvCxnSpPr>
            <a:cxnSpLocks/>
          </p:cNvCxnSpPr>
          <p:nvPr/>
        </p:nvCxnSpPr>
        <p:spPr>
          <a:xfrm>
            <a:off x="7975632" y="1712221"/>
            <a:ext cx="0" cy="4498079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E47D60C-085A-4374-23B0-05636F5684FD}"/>
              </a:ext>
            </a:extLst>
          </p:cNvPr>
          <p:cNvSpPr/>
          <p:nvPr/>
        </p:nvSpPr>
        <p:spPr>
          <a:xfrm>
            <a:off x="554737" y="2151523"/>
            <a:ext cx="3564000" cy="1746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short description of background and context of project]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short description of background and context of project]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short description of background and context of project]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ADB2A-71DC-7EAE-E393-D2E0B3419AE5}"/>
              </a:ext>
            </a:extLst>
          </p:cNvPr>
          <p:cNvSpPr/>
          <p:nvPr/>
        </p:nvSpPr>
        <p:spPr>
          <a:xfrm>
            <a:off x="554736" y="1712221"/>
            <a:ext cx="3564000" cy="39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Background and 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A269D0-55C2-6602-578D-5300AE76C04E}"/>
              </a:ext>
            </a:extLst>
          </p:cNvPr>
          <p:cNvSpPr/>
          <p:nvPr/>
        </p:nvSpPr>
        <p:spPr>
          <a:xfrm>
            <a:off x="554737" y="4514183"/>
            <a:ext cx="3564000" cy="1746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high-level overview of approach in terms of methodology, timeline etc.]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high-level overview of approach in terms of methodology, timeline etc.]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high-level overview of approach in terms of methodology, timeline etc.]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711935-13C0-8699-31BF-42A00D9FC073}"/>
              </a:ext>
            </a:extLst>
          </p:cNvPr>
          <p:cNvSpPr/>
          <p:nvPr/>
        </p:nvSpPr>
        <p:spPr>
          <a:xfrm>
            <a:off x="554737" y="4065049"/>
            <a:ext cx="3564000" cy="39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Approach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FA571-BCAA-BC07-D535-D5CFD362BE36}"/>
              </a:ext>
            </a:extLst>
          </p:cNvPr>
          <p:cNvSpPr/>
          <p:nvPr/>
        </p:nvSpPr>
        <p:spPr>
          <a:xfrm>
            <a:off x="4314001" y="2151523"/>
            <a:ext cx="3564000" cy="1746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project goal / objective]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project goal / objective]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project goal / objective]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8E5B95-599A-9477-0FC3-CFED393B6825}"/>
              </a:ext>
            </a:extLst>
          </p:cNvPr>
          <p:cNvSpPr/>
          <p:nvPr/>
        </p:nvSpPr>
        <p:spPr>
          <a:xfrm>
            <a:off x="4314000" y="1712221"/>
            <a:ext cx="3564000" cy="39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Goals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4CB6E0-4451-FC23-0E94-F40B5059FC20}"/>
              </a:ext>
            </a:extLst>
          </p:cNvPr>
          <p:cNvSpPr/>
          <p:nvPr/>
        </p:nvSpPr>
        <p:spPr>
          <a:xfrm>
            <a:off x="4314001" y="4514183"/>
            <a:ext cx="3564000" cy="1746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any potential challenges and risks that you are aware of in terms of successful completion]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any potential challenges and risks that you are aware of in terms of successful completion]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0751B2-6018-002F-51F2-4DEA5D545A91}"/>
              </a:ext>
            </a:extLst>
          </p:cNvPr>
          <p:cNvSpPr/>
          <p:nvPr/>
        </p:nvSpPr>
        <p:spPr>
          <a:xfrm>
            <a:off x="4314001" y="4065049"/>
            <a:ext cx="3564000" cy="39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Potential challenges and risks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24729F-C0B3-AE51-9C0F-98B42EC2F7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7FF92-89D2-3495-4B02-B6958863DD2F}"/>
              </a:ext>
            </a:extLst>
          </p:cNvPr>
          <p:cNvSpPr/>
          <p:nvPr/>
        </p:nvSpPr>
        <p:spPr>
          <a:xfrm>
            <a:off x="8073264" y="1712221"/>
            <a:ext cx="3564000" cy="3960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Outcomes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3EE386-A744-13D8-03EE-5196B86748B6}"/>
              </a:ext>
            </a:extLst>
          </p:cNvPr>
          <p:cNvSpPr/>
          <p:nvPr/>
        </p:nvSpPr>
        <p:spPr>
          <a:xfrm>
            <a:off x="8073264" y="2151523"/>
            <a:ext cx="3564000" cy="41090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expected outcomes and deliverables from project], </a:t>
            </a:r>
            <a:r>
              <a:rPr lang="en-US" sz="1200" b="1" dirty="0">
                <a:solidFill>
                  <a:srgbClr val="00B050"/>
                </a:solidFill>
              </a:rPr>
              <a:t>completed</a:t>
            </a:r>
          </a:p>
          <a:p>
            <a:pPr marL="228600" indent="-228600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1200" dirty="0">
                <a:solidFill>
                  <a:schemeClr val="tx1"/>
                </a:solidFill>
              </a:rPr>
              <a:t>[Insert expected outcomes and deliverables from project], </a:t>
            </a:r>
            <a:r>
              <a:rPr lang="en-US" sz="1200" b="1" dirty="0">
                <a:solidFill>
                  <a:schemeClr val="accent6"/>
                </a:solidFill>
              </a:rPr>
              <a:t>in progress</a:t>
            </a:r>
          </a:p>
          <a:p>
            <a:pPr marL="228600" indent="-228600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1200" dirty="0">
                <a:solidFill>
                  <a:schemeClr val="tx1"/>
                </a:solidFill>
              </a:rPr>
              <a:t>[Insert expected outcomes and deliverables from project],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not started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135B3B65-266A-655D-1F26-6D97A9DE6C82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0824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537</TotalTime>
  <Words>202</Words>
  <Application>Microsoft Macintosh PowerPoint</Application>
  <PresentationFormat>Bredbild</PresentationFormat>
  <Paragraphs>26</Paragraphs>
  <Slides>1</Slides>
  <Notes>1</Notes>
  <HiddenSlides>0</HiddenSlides>
  <MMClips>0</MMClips>
  <ScaleCrop>false</ScaleCrop>
  <HeadingPairs>
    <vt:vector size="8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6" baseType="lpstr">
      <vt:lpstr>Arial</vt:lpstr>
      <vt:lpstr>Segoe UI</vt:lpstr>
      <vt:lpstr>Wingdings</vt:lpstr>
      <vt:lpstr>Slideworks</vt:lpstr>
      <vt:lpstr>think-cell Slide</vt:lpstr>
      <vt:lpstr>Project charter for Project [insert name]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Project Management Toolkit</dc:title>
  <dc:subject>Project management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Carl Adam Briggert</cp:lastModifiedBy>
  <cp:revision>405</cp:revision>
  <dcterms:created xsi:type="dcterms:W3CDTF">2025-08-23T09:22:07Z</dcterms:created>
  <dcterms:modified xsi:type="dcterms:W3CDTF">2025-12-16T08:49:39Z</dcterms:modified>
  <cp:category>Management consulting, presentation design, business</cp:category>
</cp:coreProperties>
</file>