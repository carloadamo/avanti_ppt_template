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70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3"/>
  </p:notesMasterIdLst>
  <p:handoutMasterIdLst>
    <p:handoutMasterId r:id="rId4"/>
  </p:handoutMasterIdLst>
  <p:sldIdLst>
    <p:sldId id="2147473361" r:id="rId2"/>
  </p:sldIdLst>
  <p:sldSz cx="12192000" cy="6858000"/>
  <p:notesSz cx="6858000" cy="9144000"/>
  <p:custDataLst>
    <p:tags r:id="rId5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d. Project process / approach / methodology" id="{A2B9B60E-8F8A-5844-94F7-62738996B720}">
          <p14:sldIdLst/>
        </p14:section>
        <p14:section name="1e. Project details (timeline, plan, team, data requests etc.)" id="{FEAB0DDD-25DF-C34D-82AD-5A1C04B800F9}">
          <p14:sldIdLst/>
        </p14:section>
        <p14:section name="2. Project overview" id="{D50D576B-1B2B-9D43-B7AC-03F274E534E3}">
          <p14:sldIdLst>
            <p14:sldId id="2147473361"/>
          </p14:sldIdLst>
        </p14:section>
        <p14:section name="5. Risk management slides" id="{EBBBD736-0929-7B4D-BE82-A2F0A914A1F6}">
          <p14:sldIdLst/>
        </p14:section>
        <p14:section name="6. Workshop presentations" id="{7C0C9311-162F-6740-8B67-AD3FAA8FF378}">
          <p14:sldIdLst/>
        </p14:section>
        <p14:section name="6a. Workshop agendas and objectives" id="{FE661F07-ACF9-6B49-A0DB-41C0C32C239F}">
          <p14:sldIdLst/>
        </p14:section>
        <p14:section name="6c. Outline of data-driven workshop deck" id="{B26C91AD-F439-9A4C-B260-4421599E6F8A}">
          <p14:sldIdLst/>
        </p14:section>
        <p14:section name="6d. Outline of co-creation workshop" id="{CBE2A304-934F-0744-8B3D-378D60189CC7}">
          <p14:sldIdLst/>
        </p14:section>
        <p14:section name="6e. Outline of exercise and skill building workshop" id="{684FAC63-C081-C54D-A671-18FFD3A1FDAE}">
          <p14:sldIdLst/>
        </p14:section>
        <p14:section name="Steering Committee / Sounding Board meetings" id="{1F7459C3-553E-104A-A2E8-60A029E873C6}">
          <p14:sldIdLst/>
        </p14:section>
        <p14:section name="7a. General SteerCo slides" id="{C8CCDDC1-DBFC-8C4B-972E-CF9DF111AD2E}">
          <p14:sldIdLst/>
        </p14:section>
        <p14:section name="7b. Sounding Board deck" id="{7F35CDF5-39A5-2745-82B0-EC766DADE5B4}">
          <p14:sldIdLst/>
        </p14:section>
        <p14:section name="8. Board meetings" id="{48703E33-A4BE-7D4A-A6FF-254C5BF1754D}">
          <p14:sldIdLst/>
        </p14:section>
        <p14:section name="8a. Executive summaries" id="{376F5D8A-0CF9-F840-9C92-F1E7250D464B}">
          <p14:sldIdLst/>
        </p14:section>
        <p14:section name="8b. Full board deck #1" id="{3406B5A5-A2F2-C34E-85A6-F429DA4DA6C5}">
          <p14:sldIdLst/>
        </p14:section>
        <p14:section name="8c. Full board deck #2" id="{CE8FD35F-1976-104B-BE0B-D18D4DDA32F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6876"/>
    <p:restoredTop sz="93541"/>
  </p:normalViewPr>
  <p:slideViewPr>
    <p:cSldViewPr snapToGrid="0" showGuides="1">
      <p:cViewPr varScale="1">
        <p:scale>
          <a:sx n="102" d="100"/>
          <a:sy n="102" d="100"/>
        </p:scale>
        <p:origin x="192" y="584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12/16/25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12/16/25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5EC78-FED3-E8B9-91A2-CF9BF08C9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8180F4-70C1-CE4E-FF47-9A12B1201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DDB6A6-93C8-583E-091B-F29ED7D78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6B4C55B-7D11-1087-4A73-3824EDAF0580}"/>
              </a:ext>
            </a:extLst>
          </p:cNvPr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r>
              <a:rPr lang="en-US" dirty="0"/>
              <a:t>© HyveNow.com - Presentation Templates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0C821-36D3-56AB-6A2A-C50FBF5A001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HyveNow.com - Presentation Templates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77E8F-629C-5C12-6B54-82D1C7BEE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E87F8-6328-4FD1-98E7-115F699E788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919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tags" Target="../tags/tag5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9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tags" Target="../tags/tag66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17" Type="http://schemas.openxmlformats.org/officeDocument/2006/relationships/slideMaster" Target="../slideMasters/slideMaster1.xml"/><Relationship Id="rId2" Type="http://schemas.openxmlformats.org/officeDocument/2006/relationships/tags" Target="../tags/tag55.xml"/><Relationship Id="rId16" Type="http://schemas.openxmlformats.org/officeDocument/2006/relationships/tags" Target="../tags/tag69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5" Type="http://schemas.openxmlformats.org/officeDocument/2006/relationships/tags" Target="../tags/tag58.xml"/><Relationship Id="rId15" Type="http://schemas.openxmlformats.org/officeDocument/2006/relationships/tags" Target="../tags/tag68.xml"/><Relationship Id="rId10" Type="http://schemas.openxmlformats.org/officeDocument/2006/relationships/tags" Target="../tags/tag63.xml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tags" Target="../tags/tag6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5" name="SlideLogoText">
            <a:extLst>
              <a:ext uri="{FF2B5EF4-FFF2-40B4-BE49-F238E27FC236}">
                <a16:creationId xmlns:a16="http://schemas.microsoft.com/office/drawing/2014/main" id="{F850ED8E-8C63-D562-1223-537C0BF09E39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 bwMode="black">
          <a:xfrm>
            <a:off x="9943733" y="6499381"/>
            <a:ext cx="1333699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Copyright of </a:t>
            </a:r>
            <a:r>
              <a:rPr lang="en-US" sz="900" kern="1200" dirty="0" err="1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Slideworks.io</a:t>
            </a:r>
            <a:endParaRPr lang="en-US" sz="900" kern="12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85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tags" Target="../tags/tag10.xml"/><Relationship Id="rId18" Type="http://schemas.openxmlformats.org/officeDocument/2006/relationships/tags" Target="../tags/tag15.xml"/><Relationship Id="rId26" Type="http://schemas.openxmlformats.org/officeDocument/2006/relationships/tags" Target="../tags/tag23.xml"/><Relationship Id="rId39" Type="http://schemas.openxmlformats.org/officeDocument/2006/relationships/tags" Target="../tags/tag36.xml"/><Relationship Id="rId21" Type="http://schemas.openxmlformats.org/officeDocument/2006/relationships/tags" Target="../tags/tag18.xml"/><Relationship Id="rId34" Type="http://schemas.openxmlformats.org/officeDocument/2006/relationships/tags" Target="../tags/tag31.xml"/><Relationship Id="rId42" Type="http://schemas.openxmlformats.org/officeDocument/2006/relationships/tags" Target="../tags/tag39.xml"/><Relationship Id="rId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3.xml"/><Relationship Id="rId29" Type="http://schemas.openxmlformats.org/officeDocument/2006/relationships/tags" Target="../tags/tag26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11" Type="http://schemas.openxmlformats.org/officeDocument/2006/relationships/tags" Target="../tags/tag8.xml"/><Relationship Id="rId24" Type="http://schemas.openxmlformats.org/officeDocument/2006/relationships/tags" Target="../tags/tag21.xml"/><Relationship Id="rId32" Type="http://schemas.openxmlformats.org/officeDocument/2006/relationships/tags" Target="../tags/tag29.xml"/><Relationship Id="rId37" Type="http://schemas.openxmlformats.org/officeDocument/2006/relationships/tags" Target="../tags/tag34.xml"/><Relationship Id="rId40" Type="http://schemas.openxmlformats.org/officeDocument/2006/relationships/tags" Target="../tags/tag37.xml"/><Relationship Id="rId45" Type="http://schemas.openxmlformats.org/officeDocument/2006/relationships/tags" Target="../tags/tag42.xml"/><Relationship Id="rId5" Type="http://schemas.openxmlformats.org/officeDocument/2006/relationships/tags" Target="../tags/tag2.xml"/><Relationship Id="rId15" Type="http://schemas.openxmlformats.org/officeDocument/2006/relationships/tags" Target="../tags/tag12.xml"/><Relationship Id="rId23" Type="http://schemas.openxmlformats.org/officeDocument/2006/relationships/tags" Target="../tags/tag20.xml"/><Relationship Id="rId28" Type="http://schemas.openxmlformats.org/officeDocument/2006/relationships/tags" Target="../tags/tag25.xml"/><Relationship Id="rId36" Type="http://schemas.openxmlformats.org/officeDocument/2006/relationships/tags" Target="../tags/tag33.xml"/><Relationship Id="rId10" Type="http://schemas.openxmlformats.org/officeDocument/2006/relationships/tags" Target="../tags/tag7.xml"/><Relationship Id="rId19" Type="http://schemas.openxmlformats.org/officeDocument/2006/relationships/tags" Target="../tags/tag16.xml"/><Relationship Id="rId31" Type="http://schemas.openxmlformats.org/officeDocument/2006/relationships/tags" Target="../tags/tag28.xml"/><Relationship Id="rId44" Type="http://schemas.openxmlformats.org/officeDocument/2006/relationships/tags" Target="../tags/tag41.xml"/><Relationship Id="rId4" Type="http://schemas.openxmlformats.org/officeDocument/2006/relationships/theme" Target="../theme/theme1.xml"/><Relationship Id="rId9" Type="http://schemas.openxmlformats.org/officeDocument/2006/relationships/tags" Target="../tags/tag6.xml"/><Relationship Id="rId14" Type="http://schemas.openxmlformats.org/officeDocument/2006/relationships/tags" Target="../tags/tag11.xml"/><Relationship Id="rId22" Type="http://schemas.openxmlformats.org/officeDocument/2006/relationships/tags" Target="../tags/tag19.xml"/><Relationship Id="rId27" Type="http://schemas.openxmlformats.org/officeDocument/2006/relationships/tags" Target="../tags/tag24.xml"/><Relationship Id="rId30" Type="http://schemas.openxmlformats.org/officeDocument/2006/relationships/tags" Target="../tags/tag27.xml"/><Relationship Id="rId35" Type="http://schemas.openxmlformats.org/officeDocument/2006/relationships/tags" Target="../tags/tag32.xml"/><Relationship Id="rId43" Type="http://schemas.openxmlformats.org/officeDocument/2006/relationships/tags" Target="../tags/tag40.xml"/><Relationship Id="rId8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12" Type="http://schemas.openxmlformats.org/officeDocument/2006/relationships/tags" Target="../tags/tag9.xml"/><Relationship Id="rId17" Type="http://schemas.openxmlformats.org/officeDocument/2006/relationships/tags" Target="../tags/tag14.xml"/><Relationship Id="rId25" Type="http://schemas.openxmlformats.org/officeDocument/2006/relationships/tags" Target="../tags/tag22.xml"/><Relationship Id="rId33" Type="http://schemas.openxmlformats.org/officeDocument/2006/relationships/tags" Target="../tags/tag30.xml"/><Relationship Id="rId38" Type="http://schemas.openxmlformats.org/officeDocument/2006/relationships/tags" Target="../tags/tag35.xml"/><Relationship Id="rId20" Type="http://schemas.openxmlformats.org/officeDocument/2006/relationships/tags" Target="../tags/tag17.xml"/><Relationship Id="rId41" Type="http://schemas.openxmlformats.org/officeDocument/2006/relationships/tags" Target="../tags/tag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943733" y="6499381"/>
            <a:ext cx="1333699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Copyright of </a:t>
            </a:r>
            <a:r>
              <a:rPr lang="en-US" sz="900" kern="1200" dirty="0" err="1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Slideworks.io</a:t>
            </a:r>
            <a:endParaRPr lang="en-US" sz="900" kern="12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32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33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34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35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1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18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19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20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1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1"/>
    <p:sldLayoutId id="2147484188" r:id="rId2"/>
    <p:sldLayoutId id="2147484244" r:id="rId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0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77BA6-0EB6-95E1-C06C-DB3AD7C3D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BE464B94-919E-CB24-7332-194A2C316EF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61" imgH="264" progId="TCLayout.ActiveDocument.1">
                  <p:embed/>
                </p:oleObj>
              </mc:Choice>
              <mc:Fallback>
                <p:oleObj name="think-cell Slide" r:id="rId4" imgW="261" imgH="264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E464B94-919E-CB24-7332-194A2C316E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F8FEA9FA-83EB-0D56-0CCB-D1E2B6A48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/>
          <a:p>
            <a:r>
              <a:rPr lang="en-US" dirty="0"/>
              <a:t>Project charter for Project [insert name]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11CB7E-6A31-4789-AEA5-B5B3F1A31785}"/>
              </a:ext>
            </a:extLst>
          </p:cNvPr>
          <p:cNvSpPr txBox="1"/>
          <p:nvPr/>
        </p:nvSpPr>
        <p:spPr>
          <a:xfrm>
            <a:off x="6172204" y="1497013"/>
            <a:ext cx="5465060" cy="199696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tIns="72000" rtlCol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Key deliverables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E63BF0-F306-AF60-0771-7E8C45B3532A}"/>
              </a:ext>
            </a:extLst>
          </p:cNvPr>
          <p:cNvSpPr txBox="1"/>
          <p:nvPr/>
        </p:nvSpPr>
        <p:spPr>
          <a:xfrm>
            <a:off x="554735" y="1497013"/>
            <a:ext cx="5465060" cy="8270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tIns="72000" rtlCol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Clr>
                <a:schemeClr val="tx1"/>
              </a:buClr>
            </a:pPr>
            <a:r>
              <a:rPr lang="en-US" sz="1200" b="1" dirty="0"/>
              <a:t>Project objectives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main objectives for project]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main objectives for project]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335DD5-5927-E433-8DED-47C09304E7AE}"/>
              </a:ext>
            </a:extLst>
          </p:cNvPr>
          <p:cNvSpPr txBox="1"/>
          <p:nvPr/>
        </p:nvSpPr>
        <p:spPr>
          <a:xfrm>
            <a:off x="554735" y="2420116"/>
            <a:ext cx="5465060" cy="107385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tIns="72000" rtlCol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Clr>
                <a:schemeClr val="tx1"/>
              </a:buClr>
            </a:pPr>
            <a:r>
              <a:rPr lang="en-US" sz="1200" b="1" dirty="0"/>
              <a:t>KPIs</a:t>
            </a:r>
            <a:endParaRPr lang="en-US" sz="1200" dirty="0"/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main KPIs for project]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main KPIs for project]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main KPIs for project]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AF6A26-6BDC-A47C-D6AB-40167FE13F53}"/>
              </a:ext>
            </a:extLst>
          </p:cNvPr>
          <p:cNvSpPr txBox="1"/>
          <p:nvPr/>
        </p:nvSpPr>
        <p:spPr>
          <a:xfrm>
            <a:off x="554735" y="5268082"/>
            <a:ext cx="5465060" cy="1072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tIns="72000" rtlCol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Clr>
                <a:schemeClr val="tx1"/>
              </a:buClr>
            </a:pPr>
            <a:r>
              <a:rPr lang="en-US" sz="1200" b="1" dirty="0"/>
              <a:t>In scope</a:t>
            </a:r>
            <a:endParaRPr lang="en-US" sz="1200" dirty="0"/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scope]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scope]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scope]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6C40FD-92E4-12B5-D5EC-7239CA031962}"/>
              </a:ext>
            </a:extLst>
          </p:cNvPr>
          <p:cNvSpPr txBox="1"/>
          <p:nvPr/>
        </p:nvSpPr>
        <p:spPr>
          <a:xfrm>
            <a:off x="6172204" y="5268082"/>
            <a:ext cx="5465060" cy="1072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tIns="72000" rtlCol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Clr>
                <a:schemeClr val="tx1"/>
              </a:buClr>
            </a:pPr>
            <a:r>
              <a:rPr lang="en-US" sz="1200" b="1" dirty="0"/>
              <a:t>Out of scope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what is out of scope]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what is out of scope]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what is out of scope]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0E8036-DC73-873C-0CFA-8702785F5876}"/>
              </a:ext>
            </a:extLst>
          </p:cNvPr>
          <p:cNvSpPr txBox="1"/>
          <p:nvPr/>
        </p:nvSpPr>
        <p:spPr>
          <a:xfrm>
            <a:off x="6172205" y="3589990"/>
            <a:ext cx="5465060" cy="158533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tIns="72000" rtlCol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200" b="1" dirty="0"/>
              <a:t>Schedule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30EBE0-609F-7FDB-66C5-A97556F9CBCE}"/>
              </a:ext>
            </a:extLst>
          </p:cNvPr>
          <p:cNvSpPr txBox="1"/>
          <p:nvPr/>
        </p:nvSpPr>
        <p:spPr>
          <a:xfrm>
            <a:off x="554735" y="3589990"/>
            <a:ext cx="5465060" cy="15820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tIns="72000" rtlCol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Clr>
                <a:schemeClr val="tx1"/>
              </a:buClr>
            </a:pPr>
            <a:r>
              <a:rPr lang="en-US" sz="1200" b="1" dirty="0"/>
              <a:t>Key stakeholders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name], [Insert role]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name], [Insert role]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name], [Insert role]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name], [Insert role]</a:t>
            </a:r>
          </a:p>
          <a:p>
            <a:pPr marL="216000" indent="-216000" defTabSz="914400"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[Insert name], [Insert role]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8E22110-5761-8104-DE63-6C75958CF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13806"/>
              </p:ext>
            </p:extLst>
          </p:nvPr>
        </p:nvGraphicFramePr>
        <p:xfrm>
          <a:off x="6288945" y="3904375"/>
          <a:ext cx="5231581" cy="1227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2621">
                  <a:extLst>
                    <a:ext uri="{9D8B030D-6E8A-4147-A177-3AD203B41FA5}">
                      <a16:colId xmlns:a16="http://schemas.microsoft.com/office/drawing/2014/main" val="855813881"/>
                    </a:ext>
                  </a:extLst>
                </a:gridCol>
                <a:gridCol w="386580">
                  <a:extLst>
                    <a:ext uri="{9D8B030D-6E8A-4147-A177-3AD203B41FA5}">
                      <a16:colId xmlns:a16="http://schemas.microsoft.com/office/drawing/2014/main" val="846615772"/>
                    </a:ext>
                  </a:extLst>
                </a:gridCol>
                <a:gridCol w="386580">
                  <a:extLst>
                    <a:ext uri="{9D8B030D-6E8A-4147-A177-3AD203B41FA5}">
                      <a16:colId xmlns:a16="http://schemas.microsoft.com/office/drawing/2014/main" val="3663014576"/>
                    </a:ext>
                  </a:extLst>
                </a:gridCol>
                <a:gridCol w="386580">
                  <a:extLst>
                    <a:ext uri="{9D8B030D-6E8A-4147-A177-3AD203B41FA5}">
                      <a16:colId xmlns:a16="http://schemas.microsoft.com/office/drawing/2014/main" val="3988050754"/>
                    </a:ext>
                  </a:extLst>
                </a:gridCol>
                <a:gridCol w="386580">
                  <a:extLst>
                    <a:ext uri="{9D8B030D-6E8A-4147-A177-3AD203B41FA5}">
                      <a16:colId xmlns:a16="http://schemas.microsoft.com/office/drawing/2014/main" val="2346432379"/>
                    </a:ext>
                  </a:extLst>
                </a:gridCol>
                <a:gridCol w="386580">
                  <a:extLst>
                    <a:ext uri="{9D8B030D-6E8A-4147-A177-3AD203B41FA5}">
                      <a16:colId xmlns:a16="http://schemas.microsoft.com/office/drawing/2014/main" val="2380657661"/>
                    </a:ext>
                  </a:extLst>
                </a:gridCol>
                <a:gridCol w="386580">
                  <a:extLst>
                    <a:ext uri="{9D8B030D-6E8A-4147-A177-3AD203B41FA5}">
                      <a16:colId xmlns:a16="http://schemas.microsoft.com/office/drawing/2014/main" val="4003165564"/>
                    </a:ext>
                  </a:extLst>
                </a:gridCol>
                <a:gridCol w="386580">
                  <a:extLst>
                    <a:ext uri="{9D8B030D-6E8A-4147-A177-3AD203B41FA5}">
                      <a16:colId xmlns:a16="http://schemas.microsoft.com/office/drawing/2014/main" val="2483118856"/>
                    </a:ext>
                  </a:extLst>
                </a:gridCol>
                <a:gridCol w="386580">
                  <a:extLst>
                    <a:ext uri="{9D8B030D-6E8A-4147-A177-3AD203B41FA5}">
                      <a16:colId xmlns:a16="http://schemas.microsoft.com/office/drawing/2014/main" val="2649445574"/>
                    </a:ext>
                  </a:extLst>
                </a:gridCol>
                <a:gridCol w="386580">
                  <a:extLst>
                    <a:ext uri="{9D8B030D-6E8A-4147-A177-3AD203B41FA5}">
                      <a16:colId xmlns:a16="http://schemas.microsoft.com/office/drawing/2014/main" val="3685594934"/>
                    </a:ext>
                  </a:extLst>
                </a:gridCol>
                <a:gridCol w="386580">
                  <a:extLst>
                    <a:ext uri="{9D8B030D-6E8A-4147-A177-3AD203B41FA5}">
                      <a16:colId xmlns:a16="http://schemas.microsoft.com/office/drawing/2014/main" val="3767597510"/>
                    </a:ext>
                  </a:extLst>
                </a:gridCol>
                <a:gridCol w="386580">
                  <a:extLst>
                    <a:ext uri="{9D8B030D-6E8A-4147-A177-3AD203B41FA5}">
                      <a16:colId xmlns:a16="http://schemas.microsoft.com/office/drawing/2014/main" val="3963559502"/>
                    </a:ext>
                  </a:extLst>
                </a:gridCol>
                <a:gridCol w="386580">
                  <a:extLst>
                    <a:ext uri="{9D8B030D-6E8A-4147-A177-3AD203B41FA5}">
                      <a16:colId xmlns:a16="http://schemas.microsoft.com/office/drawing/2014/main" val="1305883050"/>
                    </a:ext>
                  </a:extLst>
                </a:gridCol>
              </a:tblGrid>
              <a:tr h="306894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Year</a:t>
                      </a:r>
                    </a:p>
                  </a:txBody>
                  <a:tcPr marL="36576" marR="36576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Jan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Feb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Mar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Apr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May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Jun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Jul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Aug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Sep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Oct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Nov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Dec</a:t>
                      </a: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432158"/>
                  </a:ext>
                </a:extLst>
              </a:tr>
              <a:tr h="306894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Step 1</a:t>
                      </a:r>
                    </a:p>
                  </a:txBody>
                  <a:tcPr marL="36576" marR="36576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431531"/>
                  </a:ext>
                </a:extLst>
              </a:tr>
              <a:tr h="306894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Step 2</a:t>
                      </a:r>
                    </a:p>
                  </a:txBody>
                  <a:tcPr marL="36576" marR="36576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045936"/>
                  </a:ext>
                </a:extLst>
              </a:tr>
              <a:tr h="306894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Step 3</a:t>
                      </a:r>
                    </a:p>
                  </a:txBody>
                  <a:tcPr marL="36576" marR="36576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53372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761AED43-31F4-41F6-5F9E-AD599741AB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501730"/>
              </p:ext>
            </p:extLst>
          </p:nvPr>
        </p:nvGraphicFramePr>
        <p:xfrm>
          <a:off x="6288945" y="1910556"/>
          <a:ext cx="5231578" cy="1529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82111">
                  <a:extLst>
                    <a:ext uri="{9D8B030D-6E8A-4147-A177-3AD203B41FA5}">
                      <a16:colId xmlns:a16="http://schemas.microsoft.com/office/drawing/2014/main" val="855813881"/>
                    </a:ext>
                  </a:extLst>
                </a:gridCol>
                <a:gridCol w="1054380">
                  <a:extLst>
                    <a:ext uri="{9D8B030D-6E8A-4147-A177-3AD203B41FA5}">
                      <a16:colId xmlns:a16="http://schemas.microsoft.com/office/drawing/2014/main" val="846615772"/>
                    </a:ext>
                  </a:extLst>
                </a:gridCol>
                <a:gridCol w="1595087">
                  <a:extLst>
                    <a:ext uri="{9D8B030D-6E8A-4147-A177-3AD203B41FA5}">
                      <a16:colId xmlns:a16="http://schemas.microsoft.com/office/drawing/2014/main" val="3663014576"/>
                    </a:ext>
                  </a:extLst>
                </a:gridCol>
              </a:tblGrid>
              <a:tr h="144276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Owner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Due date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432158"/>
                  </a:ext>
                </a:extLst>
              </a:tr>
              <a:tr h="144276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deliverable]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name]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date]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431531"/>
                  </a:ext>
                </a:extLst>
              </a:tr>
              <a:tr h="144276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deliverable]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[Insert name]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date]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480270"/>
                  </a:ext>
                </a:extLst>
              </a:tr>
              <a:tr h="144276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deliverable]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[Insert name]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date]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759549"/>
                  </a:ext>
                </a:extLst>
              </a:tr>
              <a:tr h="144276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deliverable]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[Insert name]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date]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500056"/>
                  </a:ext>
                </a:extLst>
              </a:tr>
              <a:tr h="144276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deliverable]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[Insert name]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date]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04524"/>
                  </a:ext>
                </a:extLst>
              </a:tr>
            </a:tbl>
          </a:graphicData>
        </a:graphic>
      </p:graphicFrame>
      <p:sp>
        <p:nvSpPr>
          <p:cNvPr id="27" name="Text Box 6">
            <a:extLst>
              <a:ext uri="{FF2B5EF4-FFF2-40B4-BE49-F238E27FC236}">
                <a16:creationId xmlns:a16="http://schemas.microsoft.com/office/drawing/2014/main" id="{71D92461-6935-EEA2-5B96-F2320BEC399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6923084" y="4282507"/>
            <a:ext cx="790935" cy="167462"/>
          </a:xfrm>
          <a:prstGeom prst="homePlate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000" noProof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8" name="Text Box 7">
            <a:extLst>
              <a:ext uri="{FF2B5EF4-FFF2-40B4-BE49-F238E27FC236}">
                <a16:creationId xmlns:a16="http://schemas.microsoft.com/office/drawing/2014/main" id="{47F998CE-76EB-E1F5-4EC7-4381D944E31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7664977" y="4282507"/>
            <a:ext cx="790935" cy="167462"/>
          </a:xfrm>
          <a:prstGeom prst="chevron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000" noProof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9" name="Text Box 7">
            <a:extLst>
              <a:ext uri="{FF2B5EF4-FFF2-40B4-BE49-F238E27FC236}">
                <a16:creationId xmlns:a16="http://schemas.microsoft.com/office/drawing/2014/main" id="{6BC341F0-DDF8-6284-5515-9525C8605359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406870" y="4282507"/>
            <a:ext cx="790935" cy="167462"/>
          </a:xfrm>
          <a:prstGeom prst="chevron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000" noProof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1" name="Text Box 6">
            <a:extLst>
              <a:ext uri="{FF2B5EF4-FFF2-40B4-BE49-F238E27FC236}">
                <a16:creationId xmlns:a16="http://schemas.microsoft.com/office/drawing/2014/main" id="{899202DC-B250-103B-B9CA-7AB11AFD7DD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904734" y="4576277"/>
            <a:ext cx="1714557" cy="169200"/>
          </a:xfrm>
          <a:prstGeom prst="homePlate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000" noProof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2" name="Text Box 7">
            <a:extLst>
              <a:ext uri="{FF2B5EF4-FFF2-40B4-BE49-F238E27FC236}">
                <a16:creationId xmlns:a16="http://schemas.microsoft.com/office/drawing/2014/main" id="{0D3BB66F-97A2-D26D-C030-7B4E3F95BBD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0619291" y="4902669"/>
            <a:ext cx="790935" cy="167462"/>
          </a:xfrm>
          <a:prstGeom prst="homePlate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000" noProof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30BAD80-5D15-51F5-18BE-B6B733A363B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23722DBF-E2E5-4732-39F5-46A35D5D04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18000" y="5276551"/>
            <a:ext cx="252000" cy="252000"/>
          </a:xfrm>
          <a:prstGeom prst="rect">
            <a:avLst/>
          </a:prstGeom>
        </p:spPr>
      </p:pic>
      <p:pic>
        <p:nvPicPr>
          <p:cNvPr id="14" name="Graphic 13" descr="Badge Cross with solid fill">
            <a:extLst>
              <a:ext uri="{FF2B5EF4-FFF2-40B4-BE49-F238E27FC236}">
                <a16:creationId xmlns:a16="http://schemas.microsoft.com/office/drawing/2014/main" id="{0DC00956-2CC3-E948-F1D8-72E5C7BFAC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85264" y="5276551"/>
            <a:ext cx="252000" cy="252000"/>
          </a:xfrm>
          <a:prstGeom prst="rect">
            <a:avLst/>
          </a:prstGeom>
        </p:spPr>
      </p:pic>
      <p:sp>
        <p:nvSpPr>
          <p:cNvPr id="2" name="Google Shape;507;p14">
            <a:extLst>
              <a:ext uri="{FF2B5EF4-FFF2-40B4-BE49-F238E27FC236}">
                <a16:creationId xmlns:a16="http://schemas.microsoft.com/office/drawing/2014/main" id="{2233A949-2118-F20E-E5DE-8F6342AAA05A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22858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537</TotalTime>
  <Words>238</Words>
  <Application>Microsoft Macintosh PowerPoint</Application>
  <PresentationFormat>Bredbild</PresentationFormat>
  <Paragraphs>67</Paragraphs>
  <Slides>1</Slides>
  <Notes>1</Notes>
  <HiddenSlides>0</HiddenSlides>
  <MMClips>0</MMClips>
  <ScaleCrop>false</ScaleCrop>
  <HeadingPairs>
    <vt:vector size="8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Serverprogram för OLE-inbäddning</vt:lpstr>
      </vt:variant>
      <vt:variant>
        <vt:i4>1</vt:i4>
      </vt:variant>
      <vt:variant>
        <vt:lpstr>Bildrubriker</vt:lpstr>
      </vt:variant>
      <vt:variant>
        <vt:i4>1</vt:i4>
      </vt:variant>
    </vt:vector>
  </HeadingPairs>
  <TitlesOfParts>
    <vt:vector size="6" baseType="lpstr">
      <vt:lpstr>Arial</vt:lpstr>
      <vt:lpstr>Segoe UI</vt:lpstr>
      <vt:lpstr>Wingdings</vt:lpstr>
      <vt:lpstr>Slideworks</vt:lpstr>
      <vt:lpstr>think-cell Slide</vt:lpstr>
      <vt:lpstr>Project charter for Project [insert name]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Project Management Toolkit</dc:title>
  <dc:subject>Project management</dc:subject>
  <dc:creator>Slideworks</dc:creator>
  <cp:keywords>project management, business development, consulting</cp:keywords>
  <dc:description>Copyright of Slideworks.io. Any unauthorized distribution prohibited. See our full terms and conditions at https://slideworks.io/terms </dc:description>
  <cp:lastModifiedBy>Carl Adam Briggert</cp:lastModifiedBy>
  <cp:revision>405</cp:revision>
  <dcterms:created xsi:type="dcterms:W3CDTF">2025-08-23T09:22:07Z</dcterms:created>
  <dcterms:modified xsi:type="dcterms:W3CDTF">2025-12-16T08:49:18Z</dcterms:modified>
  <cp:category>Management consulting, presentation design, business</cp:category>
</cp:coreProperties>
</file>