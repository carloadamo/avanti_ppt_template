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0.xml" ContentType="application/vnd.openxmlformats-officedocument.presentationml.tags+xml"/>
  <Override PartName="/ppt/notesSlides/notesSlide1.xml" ContentType="application/vnd.openxmlformats-officedocument.presentationml.notesSlide+xml"/>
  <Override PartName="/ppt/tags/tag71.xml" ContentType="application/vnd.openxmlformats-officedocument.presentationml.tags+xml"/>
  <Override PartName="/ppt/notesSlides/notesSlide2.xml" ContentType="application/vnd.openxmlformats-officedocument.presentationml.notesSlide+xml"/>
  <Override PartName="/ppt/tags/tag72.xml" ContentType="application/vnd.openxmlformats-officedocument.presentationml.tags+xml"/>
  <Override PartName="/ppt/notesSlides/notesSlide3.xml" ContentType="application/vnd.openxmlformats-officedocument.presentationml.notesSlide+xml"/>
  <Override PartName="/ppt/tags/tag7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9"/>
  </p:notesMasterIdLst>
  <p:handoutMasterIdLst>
    <p:handoutMasterId r:id="rId10"/>
  </p:handoutMasterIdLst>
  <p:sldIdLst>
    <p:sldId id="2147473824" r:id="rId2"/>
    <p:sldId id="2335" r:id="rId3"/>
    <p:sldId id="2147471119" r:id="rId4"/>
    <p:sldId id="2147473361" r:id="rId5"/>
    <p:sldId id="2147473362" r:id="rId6"/>
    <p:sldId id="2147473355" r:id="rId7"/>
    <p:sldId id="2147473342" r:id="rId8"/>
  </p:sldIdLst>
  <p:sldSz cx="12192000" cy="6858000"/>
  <p:notesSz cx="6858000" cy="9144000"/>
  <p:custDataLst>
    <p:tags r:id="rId11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d. Project process / approach / methodology" id="{A2B9B60E-8F8A-5844-94F7-62738996B720}">
          <p14:sldIdLst>
            <p14:sldId id="2147473824"/>
            <p14:sldId id="2335"/>
          </p14:sldIdLst>
        </p14:section>
        <p14:section name="1e. Project details (timeline, plan, team, data requests etc.)" id="{FEAB0DDD-25DF-C34D-82AD-5A1C04B800F9}">
          <p14:sldIdLst>
            <p14:sldId id="2147471119"/>
          </p14:sldIdLst>
        </p14:section>
        <p14:section name="2. Project overview" id="{D50D576B-1B2B-9D43-B7AC-03F274E534E3}">
          <p14:sldIdLst>
            <p14:sldId id="2147473361"/>
            <p14:sldId id="2147473362"/>
            <p14:sldId id="2147473355"/>
            <p14:sldId id="2147473342"/>
          </p14:sldIdLst>
        </p14:section>
        <p14:section name="5. Risk management slides" id="{EBBBD736-0929-7B4D-BE82-A2F0A914A1F6}">
          <p14:sldIdLst/>
        </p14:section>
        <p14:section name="6. Workshop presentations" id="{7C0C9311-162F-6740-8B67-AD3FAA8FF378}">
          <p14:sldIdLst/>
        </p14:section>
        <p14:section name="6a. Workshop agendas and objectives" id="{FE661F07-ACF9-6B49-A0DB-41C0C32C239F}">
          <p14:sldIdLst/>
        </p14:section>
        <p14:section name="6c. Outline of data-driven workshop deck" id="{B26C91AD-F439-9A4C-B260-4421599E6F8A}">
          <p14:sldIdLst/>
        </p14:section>
        <p14:section name="6d. Outline of co-creation workshop" id="{CBE2A304-934F-0744-8B3D-378D60189CC7}">
          <p14:sldIdLst/>
        </p14:section>
        <p14:section name="6e. Outline of exercise and skill building workshop" id="{684FAC63-C081-C54D-A671-18FFD3A1FDAE}">
          <p14:sldIdLst/>
        </p14:section>
        <p14:section name="Steering Committee / Sounding Board meetings" id="{1F7459C3-553E-104A-A2E8-60A029E873C6}">
          <p14:sldIdLst/>
        </p14:section>
        <p14:section name="7a. General SteerCo slides" id="{C8CCDDC1-DBFC-8C4B-972E-CF9DF111AD2E}">
          <p14:sldIdLst/>
        </p14:section>
        <p14:section name="7b. Sounding Board deck" id="{7F35CDF5-39A5-2745-82B0-EC766DADE5B4}">
          <p14:sldIdLst/>
        </p14:section>
        <p14:section name="8. Board meetings" id="{48703E33-A4BE-7D4A-A6FF-254C5BF1754D}">
          <p14:sldIdLst/>
        </p14:section>
        <p14:section name="8a. Executive summaries" id="{376F5D8A-0CF9-F840-9C92-F1E7250D464B}">
          <p14:sldIdLst/>
        </p14:section>
        <p14:section name="8b. Full board deck #1" id="{3406B5A5-A2F2-C34E-85A6-F429DA4DA6C5}">
          <p14:sldIdLst/>
        </p14:section>
        <p14:section name="8c. Full board deck #2" id="{CE8FD35F-1976-104B-BE0B-D18D4DDA32F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6876"/>
    <p:restoredTop sz="93541"/>
  </p:normalViewPr>
  <p:slideViewPr>
    <p:cSldViewPr snapToGrid="0" showGuides="1">
      <p:cViewPr varScale="1">
        <p:scale>
          <a:sx n="102" d="100"/>
          <a:sy n="102" d="100"/>
        </p:scale>
        <p:origin x="192" y="584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12/16/25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12/16/25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5EC78-FED3-E8B9-91A2-CF9BF08C9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180F4-70C1-CE4E-FF47-9A12B1201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DB6A6-93C8-583E-091B-F29ED7D78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6B4C55B-7D11-1087-4A73-3824EDAF0580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0C821-36D3-56AB-6A2A-C50FBF5A00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77E8F-629C-5C12-6B54-82D1C7BEE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E87F8-6328-4FD1-98E7-115F699E788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919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D6FDE-23D1-1B58-3D61-E9669DB19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7EF69F-8ABC-2C39-BB5D-DB99E3E98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09579-156C-3B80-4C89-42F3BBD2B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C334B1B-4AD2-72EB-B237-C62085BB20A7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B48CA-5767-6EC1-3417-12405B79B4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DE83B-E33E-3A39-88CE-3EAF846E9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E87F8-6328-4FD1-98E7-115F699E788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362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2AE0C-1CD0-0B86-81A5-229B2AF1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0744E-D41C-4A80-832B-B3E660F63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C8741-11B8-E515-4A29-8A6AF20B9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3CC381B-7AB3-5788-7279-E8C96C97460B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233C2-B6D5-740D-2D54-6A41FA873A9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4F243-F88B-D416-535E-5EDF94894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E87F8-6328-4FD1-98E7-115F699E788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584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5" name="SlideLogoText">
            <a:extLst>
              <a:ext uri="{FF2B5EF4-FFF2-40B4-BE49-F238E27FC236}">
                <a16:creationId xmlns:a16="http://schemas.microsoft.com/office/drawing/2014/main" id="{F850ED8E-8C63-D562-1223-537C0BF09E39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 bwMode="black">
          <a:xfrm>
            <a:off x="9943733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Copyright of </a:t>
            </a:r>
            <a:r>
              <a:rPr lang="en-US" sz="900" kern="1200" dirty="0" err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Slideworks.io</a:t>
            </a:r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85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tags" Target="../tags/tag10.xml"/><Relationship Id="rId18" Type="http://schemas.openxmlformats.org/officeDocument/2006/relationships/tags" Target="../tags/tag15.xml"/><Relationship Id="rId26" Type="http://schemas.openxmlformats.org/officeDocument/2006/relationships/tags" Target="../tags/tag23.xml"/><Relationship Id="rId39" Type="http://schemas.openxmlformats.org/officeDocument/2006/relationships/tags" Target="../tags/tag36.xml"/><Relationship Id="rId21" Type="http://schemas.openxmlformats.org/officeDocument/2006/relationships/tags" Target="../tags/tag18.xml"/><Relationship Id="rId34" Type="http://schemas.openxmlformats.org/officeDocument/2006/relationships/tags" Target="../tags/tag31.xml"/><Relationship Id="rId42" Type="http://schemas.openxmlformats.org/officeDocument/2006/relationships/tags" Target="../tags/tag39.xml"/><Relationship Id="rId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3.xml"/><Relationship Id="rId29" Type="http://schemas.openxmlformats.org/officeDocument/2006/relationships/tags" Target="../tags/tag26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11" Type="http://schemas.openxmlformats.org/officeDocument/2006/relationships/tags" Target="../tags/tag8.xml"/><Relationship Id="rId24" Type="http://schemas.openxmlformats.org/officeDocument/2006/relationships/tags" Target="../tags/tag21.xml"/><Relationship Id="rId32" Type="http://schemas.openxmlformats.org/officeDocument/2006/relationships/tags" Target="../tags/tag29.xml"/><Relationship Id="rId37" Type="http://schemas.openxmlformats.org/officeDocument/2006/relationships/tags" Target="../tags/tag34.xml"/><Relationship Id="rId40" Type="http://schemas.openxmlformats.org/officeDocument/2006/relationships/tags" Target="../tags/tag37.xml"/><Relationship Id="rId45" Type="http://schemas.openxmlformats.org/officeDocument/2006/relationships/tags" Target="../tags/tag42.xml"/><Relationship Id="rId5" Type="http://schemas.openxmlformats.org/officeDocument/2006/relationships/tags" Target="../tags/tag2.xml"/><Relationship Id="rId15" Type="http://schemas.openxmlformats.org/officeDocument/2006/relationships/tags" Target="../tags/tag12.xml"/><Relationship Id="rId23" Type="http://schemas.openxmlformats.org/officeDocument/2006/relationships/tags" Target="../tags/tag20.xml"/><Relationship Id="rId28" Type="http://schemas.openxmlformats.org/officeDocument/2006/relationships/tags" Target="../tags/tag25.xml"/><Relationship Id="rId36" Type="http://schemas.openxmlformats.org/officeDocument/2006/relationships/tags" Target="../tags/tag33.xml"/><Relationship Id="rId10" Type="http://schemas.openxmlformats.org/officeDocument/2006/relationships/tags" Target="../tags/tag7.xml"/><Relationship Id="rId19" Type="http://schemas.openxmlformats.org/officeDocument/2006/relationships/tags" Target="../tags/tag16.xml"/><Relationship Id="rId31" Type="http://schemas.openxmlformats.org/officeDocument/2006/relationships/tags" Target="../tags/tag28.xml"/><Relationship Id="rId44" Type="http://schemas.openxmlformats.org/officeDocument/2006/relationships/tags" Target="../tags/tag41.xml"/><Relationship Id="rId4" Type="http://schemas.openxmlformats.org/officeDocument/2006/relationships/theme" Target="../theme/theme1.xml"/><Relationship Id="rId9" Type="http://schemas.openxmlformats.org/officeDocument/2006/relationships/tags" Target="../tags/tag6.xml"/><Relationship Id="rId14" Type="http://schemas.openxmlformats.org/officeDocument/2006/relationships/tags" Target="../tags/tag11.xml"/><Relationship Id="rId22" Type="http://schemas.openxmlformats.org/officeDocument/2006/relationships/tags" Target="../tags/tag19.xml"/><Relationship Id="rId27" Type="http://schemas.openxmlformats.org/officeDocument/2006/relationships/tags" Target="../tags/tag24.xml"/><Relationship Id="rId30" Type="http://schemas.openxmlformats.org/officeDocument/2006/relationships/tags" Target="../tags/tag27.xml"/><Relationship Id="rId35" Type="http://schemas.openxmlformats.org/officeDocument/2006/relationships/tags" Target="../tags/tag32.xml"/><Relationship Id="rId43" Type="http://schemas.openxmlformats.org/officeDocument/2006/relationships/tags" Target="../tags/tag40.xml"/><Relationship Id="rId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12" Type="http://schemas.openxmlformats.org/officeDocument/2006/relationships/tags" Target="../tags/tag9.xml"/><Relationship Id="rId17" Type="http://schemas.openxmlformats.org/officeDocument/2006/relationships/tags" Target="../tags/tag14.xml"/><Relationship Id="rId25" Type="http://schemas.openxmlformats.org/officeDocument/2006/relationships/tags" Target="../tags/tag22.xml"/><Relationship Id="rId33" Type="http://schemas.openxmlformats.org/officeDocument/2006/relationships/tags" Target="../tags/tag30.xml"/><Relationship Id="rId38" Type="http://schemas.openxmlformats.org/officeDocument/2006/relationships/tags" Target="../tags/tag35.xml"/><Relationship Id="rId20" Type="http://schemas.openxmlformats.org/officeDocument/2006/relationships/tags" Target="../tags/tag17.xml"/><Relationship Id="rId41" Type="http://schemas.openxmlformats.org/officeDocument/2006/relationships/tags" Target="../tags/tag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943733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Copyright of </a:t>
            </a:r>
            <a:r>
              <a:rPr lang="en-US" sz="900" kern="1200" dirty="0" err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Slideworks.io</a:t>
            </a:r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35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1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20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1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1"/>
    <p:sldLayoutId id="2147484188" r:id="rId2"/>
    <p:sldLayoutId id="2147484244" r:id="rId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1D754-DFED-8AC0-509E-EE79D809C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2A9BF-C53A-7EC0-262F-4340E070A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We have just completed the Diagnostic stage of the three-stage Operational Excellence process</a:t>
            </a:r>
            <a:endParaRPr lang="en-DK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36A2E-8FF1-85A7-D4EE-FAD73E2EA7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D929BF71-0643-539D-F224-7E8CC5AF25AB}"/>
              </a:ext>
            </a:extLst>
          </p:cNvPr>
          <p:cNvSpPr/>
          <p:nvPr/>
        </p:nvSpPr>
        <p:spPr>
          <a:xfrm>
            <a:off x="737938" y="2875575"/>
            <a:ext cx="3561269" cy="671513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bg1"/>
                </a:solidFill>
              </a:rPr>
              <a:t>Diagnostic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9A9EF31C-24F3-750F-C519-F558F4349549}"/>
              </a:ext>
            </a:extLst>
          </p:cNvPr>
          <p:cNvSpPr/>
          <p:nvPr/>
        </p:nvSpPr>
        <p:spPr>
          <a:xfrm>
            <a:off x="4072478" y="2875575"/>
            <a:ext cx="3804157" cy="6732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bg1"/>
                </a:solidFill>
              </a:rPr>
              <a:t>Solution design</a:t>
            </a:r>
          </a:p>
        </p:txBody>
      </p:sp>
      <p:sp>
        <p:nvSpPr>
          <p:cNvPr id="25" name="Chevron 24">
            <a:extLst>
              <a:ext uri="{FF2B5EF4-FFF2-40B4-BE49-F238E27FC236}">
                <a16:creationId xmlns:a16="http://schemas.microsoft.com/office/drawing/2014/main" id="{1A9E71D3-93A3-DCFE-593E-280B123F8378}"/>
              </a:ext>
            </a:extLst>
          </p:cNvPr>
          <p:cNvSpPr/>
          <p:nvPr/>
        </p:nvSpPr>
        <p:spPr>
          <a:xfrm>
            <a:off x="7649906" y="2875575"/>
            <a:ext cx="3804157" cy="6732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bg1"/>
                </a:solidFill>
              </a:rPr>
              <a:t>Implementation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C95CAF-2C78-AF3C-5287-997BBD6B7357}"/>
              </a:ext>
            </a:extLst>
          </p:cNvPr>
          <p:cNvSpPr txBox="1"/>
          <p:nvPr/>
        </p:nvSpPr>
        <p:spPr>
          <a:xfrm>
            <a:off x="737938" y="3637575"/>
            <a:ext cx="32339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Create a baseline understanding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Identify and prioritize opportunities to improve efficiency and effectiveness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3BB5E6-07A7-66E2-2442-9FC917268B75}"/>
              </a:ext>
            </a:extLst>
          </p:cNvPr>
          <p:cNvSpPr txBox="1"/>
          <p:nvPr/>
        </p:nvSpPr>
        <p:spPr>
          <a:xfrm>
            <a:off x="4072478" y="3637575"/>
            <a:ext cx="35774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Develop detailed implementation plans to capture value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Prepare organization for implementation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4394C4-B7F5-32DF-EDE3-38C34CBDCF02}"/>
              </a:ext>
            </a:extLst>
          </p:cNvPr>
          <p:cNvSpPr txBox="1"/>
          <p:nvPr/>
        </p:nvSpPr>
        <p:spPr>
          <a:xfrm>
            <a:off x="1389860" y="5482446"/>
            <a:ext cx="2257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What to do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F276D0-D873-402B-6D02-F850CD4B2FEC}"/>
              </a:ext>
            </a:extLst>
          </p:cNvPr>
          <p:cNvSpPr txBox="1"/>
          <p:nvPr/>
        </p:nvSpPr>
        <p:spPr>
          <a:xfrm>
            <a:off x="4845844" y="5480304"/>
            <a:ext cx="2257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How to do it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3DA1C5-678D-70B9-9377-2ACA88141CA6}"/>
              </a:ext>
            </a:extLst>
          </p:cNvPr>
          <p:cNvSpPr txBox="1"/>
          <p:nvPr/>
        </p:nvSpPr>
        <p:spPr>
          <a:xfrm>
            <a:off x="7649906" y="3637575"/>
            <a:ext cx="35146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Implement workstreams and drive change in organization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Continuously measure progress and impact and reassess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62C7FD-A83D-6014-A183-9D02295D96A1}"/>
              </a:ext>
            </a:extLst>
          </p:cNvPr>
          <p:cNvSpPr txBox="1"/>
          <p:nvPr/>
        </p:nvSpPr>
        <p:spPr>
          <a:xfrm>
            <a:off x="8423272" y="5482446"/>
            <a:ext cx="2257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Do it</a:t>
            </a:r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FB8914E6-6FC0-1B94-A392-C51856D22440}"/>
              </a:ext>
            </a:extLst>
          </p:cNvPr>
          <p:cNvSpPr/>
          <p:nvPr/>
        </p:nvSpPr>
        <p:spPr>
          <a:xfrm rot="10800000">
            <a:off x="1470752" y="4992985"/>
            <a:ext cx="2095641" cy="24651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riangle 37">
            <a:extLst>
              <a:ext uri="{FF2B5EF4-FFF2-40B4-BE49-F238E27FC236}">
                <a16:creationId xmlns:a16="http://schemas.microsoft.com/office/drawing/2014/main" id="{B756EAE6-3BD5-795E-C7C1-BADC7FB8AF3E}"/>
              </a:ext>
            </a:extLst>
          </p:cNvPr>
          <p:cNvSpPr/>
          <p:nvPr/>
        </p:nvSpPr>
        <p:spPr>
          <a:xfrm rot="10800000">
            <a:off x="4926736" y="4992985"/>
            <a:ext cx="2095641" cy="24651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9" name="Triangle 38">
            <a:extLst>
              <a:ext uri="{FF2B5EF4-FFF2-40B4-BE49-F238E27FC236}">
                <a16:creationId xmlns:a16="http://schemas.microsoft.com/office/drawing/2014/main" id="{23CCCFB9-407D-F99E-EF5D-A9DC0E51E623}"/>
              </a:ext>
            </a:extLst>
          </p:cNvPr>
          <p:cNvSpPr/>
          <p:nvPr/>
        </p:nvSpPr>
        <p:spPr>
          <a:xfrm rot="10800000">
            <a:off x="8504164" y="4992985"/>
            <a:ext cx="2095641" cy="24651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B0E7B2-7CEA-4FFE-0FD7-014401345BBD}"/>
              </a:ext>
            </a:extLst>
          </p:cNvPr>
          <p:cNvSpPr/>
          <p:nvPr/>
        </p:nvSpPr>
        <p:spPr>
          <a:xfrm>
            <a:off x="9644063" y="1"/>
            <a:ext cx="2547937" cy="12301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chemeClr val="tx1"/>
                </a:solidFill>
              </a:rPr>
              <a:t>Slideworks note: Insert whatever process is most relevant for your case</a:t>
            </a:r>
          </a:p>
        </p:txBody>
      </p:sp>
      <p:sp>
        <p:nvSpPr>
          <p:cNvPr id="5" name="Google Shape;507;p14">
            <a:extLst>
              <a:ext uri="{FF2B5EF4-FFF2-40B4-BE49-F238E27FC236}">
                <a16:creationId xmlns:a16="http://schemas.microsoft.com/office/drawing/2014/main" id="{466BA664-AF61-DFC6-B535-37806FED349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538;p14">
            <a:extLst>
              <a:ext uri="{FF2B5EF4-FFF2-40B4-BE49-F238E27FC236}">
                <a16:creationId xmlns:a16="http://schemas.microsoft.com/office/drawing/2014/main" id="{5A3C4A2E-503A-770C-DBCA-89C8ACC80B09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D5CA2-4218-8983-0551-52B0062D61C3}"/>
              </a:ext>
            </a:extLst>
          </p:cNvPr>
          <p:cNvSpPr txBox="1"/>
          <p:nvPr/>
        </p:nvSpPr>
        <p:spPr>
          <a:xfrm>
            <a:off x="3204703" y="2017489"/>
            <a:ext cx="1735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chemeClr val="accent6"/>
                </a:solidFill>
              </a:rPr>
              <a:t>WE ARE HERE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CD2F5A-3CF9-786C-67F4-FC5F744CBD8A}"/>
              </a:ext>
            </a:extLst>
          </p:cNvPr>
          <p:cNvCxnSpPr>
            <a:stCxn id="9" idx="2"/>
          </p:cNvCxnSpPr>
          <p:nvPr/>
        </p:nvCxnSpPr>
        <p:spPr>
          <a:xfrm>
            <a:off x="4072478" y="2356043"/>
            <a:ext cx="0" cy="504000"/>
          </a:xfrm>
          <a:prstGeom prst="straightConnector1">
            <a:avLst/>
          </a:prstGeom>
          <a:ln w="28575">
            <a:solidFill>
              <a:schemeClr val="accent6">
                <a:alpha val="99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D9B189F-DEAB-A5BD-6853-189FB7D26520}"/>
              </a:ext>
            </a:extLst>
          </p:cNvPr>
          <p:cNvSpPr txBox="1"/>
          <p:nvPr/>
        </p:nvSpPr>
        <p:spPr>
          <a:xfrm>
            <a:off x="1518447" y="2494893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[x] months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31A1B8-B01E-394B-7243-509204DDEDE6}"/>
              </a:ext>
            </a:extLst>
          </p:cNvPr>
          <p:cNvSpPr txBox="1"/>
          <p:nvPr/>
        </p:nvSpPr>
        <p:spPr>
          <a:xfrm>
            <a:off x="4974431" y="2494893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[x] months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F01A7C-072C-366C-7003-825C3CB6C0DC}"/>
              </a:ext>
            </a:extLst>
          </p:cNvPr>
          <p:cNvSpPr txBox="1"/>
          <p:nvPr/>
        </p:nvSpPr>
        <p:spPr>
          <a:xfrm>
            <a:off x="8551859" y="2494893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[x] months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5A7B44-DE31-E924-BD17-69DE6022EDF8}"/>
              </a:ext>
            </a:extLst>
          </p:cNvPr>
          <p:cNvSpPr/>
          <p:nvPr/>
        </p:nvSpPr>
        <p:spPr>
          <a:xfrm>
            <a:off x="467806" y="1368884"/>
            <a:ext cx="40126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Overview of Operational Excellence process:</a:t>
            </a:r>
          </a:p>
        </p:txBody>
      </p:sp>
    </p:spTree>
    <p:extLst>
      <p:ext uri="{BB962C8B-B14F-4D97-AF65-F5344CB8AC3E}">
        <p14:creationId xmlns:p14="http://schemas.microsoft.com/office/powerpoint/2010/main" val="1342752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84FB-D0A0-9B28-1642-68338E9F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This project will focus on the Due Diligence phase of the M&amp;A process </a:t>
            </a:r>
            <a:endParaRPr lang="en-DK" dirty="0"/>
          </a:p>
        </p:txBody>
      </p:sp>
      <p:sp>
        <p:nvSpPr>
          <p:cNvPr id="29" name="Chevron 10">
            <a:extLst>
              <a:ext uri="{FF2B5EF4-FFF2-40B4-BE49-F238E27FC236}">
                <a16:creationId xmlns:a16="http://schemas.microsoft.com/office/drawing/2014/main" id="{4ADA10AC-CC54-E486-CAAD-0A92BC06276B}"/>
              </a:ext>
            </a:extLst>
          </p:cNvPr>
          <p:cNvSpPr/>
          <p:nvPr/>
        </p:nvSpPr>
        <p:spPr bwMode="auto">
          <a:xfrm>
            <a:off x="2763458" y="2067591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rtl="0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b="1" kern="1200" dirty="0">
                <a:solidFill>
                  <a:schemeClr val="bg1"/>
                </a:solidFill>
                <a:ea typeface="+mn-ea"/>
                <a:cs typeface="Times New Roman" pitchFamily="18" charset="0"/>
              </a:rPr>
              <a:t>Target i</a:t>
            </a:r>
            <a:r>
              <a:rPr lang="en-US" sz="1400" b="1" dirty="0">
                <a:solidFill>
                  <a:schemeClr val="bg1"/>
                </a:solidFill>
                <a:cs typeface="Times New Roman" pitchFamily="18" charset="0"/>
              </a:rPr>
              <a:t>dentification</a:t>
            </a:r>
            <a:endParaRPr lang="en-US" sz="1400" b="1" kern="1200" dirty="0">
              <a:solidFill>
                <a:schemeClr val="bg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31" name="Chevron 14">
            <a:extLst>
              <a:ext uri="{FF2B5EF4-FFF2-40B4-BE49-F238E27FC236}">
                <a16:creationId xmlns:a16="http://schemas.microsoft.com/office/drawing/2014/main" id="{B9C5049E-F03D-32F7-9C0F-3C150C9F0E76}"/>
              </a:ext>
            </a:extLst>
          </p:cNvPr>
          <p:cNvSpPr/>
          <p:nvPr/>
        </p:nvSpPr>
        <p:spPr bwMode="auto">
          <a:xfrm>
            <a:off x="4982887" y="2067591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bg1"/>
                </a:solidFill>
                <a:cs typeface="Times New Roman" pitchFamily="18" charset="0"/>
              </a:rPr>
              <a:t>Due diligence</a:t>
            </a:r>
          </a:p>
        </p:txBody>
      </p:sp>
      <p:sp>
        <p:nvSpPr>
          <p:cNvPr id="32" name="Chevron 17">
            <a:extLst>
              <a:ext uri="{FF2B5EF4-FFF2-40B4-BE49-F238E27FC236}">
                <a16:creationId xmlns:a16="http://schemas.microsoft.com/office/drawing/2014/main" id="{8C73411B-16FE-D653-45AE-3DC70B290A50}"/>
              </a:ext>
            </a:extLst>
          </p:cNvPr>
          <p:cNvSpPr/>
          <p:nvPr/>
        </p:nvSpPr>
        <p:spPr bwMode="auto">
          <a:xfrm>
            <a:off x="7202316" y="2067591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bg1"/>
                </a:solidFill>
                <a:cs typeface="Times New Roman" pitchFamily="18" charset="0"/>
              </a:rPr>
              <a:t>Transaction execution</a:t>
            </a:r>
          </a:p>
        </p:txBody>
      </p:sp>
      <p:sp>
        <p:nvSpPr>
          <p:cNvPr id="33" name="Chevron 103">
            <a:extLst>
              <a:ext uri="{FF2B5EF4-FFF2-40B4-BE49-F238E27FC236}">
                <a16:creationId xmlns:a16="http://schemas.microsoft.com/office/drawing/2014/main" id="{9336FA72-44B6-DBEF-B1C7-829B2BAD3ECA}"/>
              </a:ext>
            </a:extLst>
          </p:cNvPr>
          <p:cNvSpPr/>
          <p:nvPr/>
        </p:nvSpPr>
        <p:spPr bwMode="auto">
          <a:xfrm>
            <a:off x="9421744" y="2067591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bg1"/>
                </a:solidFill>
                <a:cs typeface="Times New Roman" pitchFamily="18" charset="0"/>
              </a:rPr>
              <a:t>Post-merger integration</a:t>
            </a:r>
            <a:endParaRPr lang="en-US" sz="1400" b="1" kern="12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34" name="Chevron 167">
            <a:extLst>
              <a:ext uri="{FF2B5EF4-FFF2-40B4-BE49-F238E27FC236}">
                <a16:creationId xmlns:a16="http://schemas.microsoft.com/office/drawing/2014/main" id="{6CDCA47A-65B2-E8EC-DF63-7070668C417D}"/>
              </a:ext>
            </a:extLst>
          </p:cNvPr>
          <p:cNvSpPr/>
          <p:nvPr/>
        </p:nvSpPr>
        <p:spPr bwMode="auto">
          <a:xfrm>
            <a:off x="544029" y="2067591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bg1"/>
                </a:solidFill>
                <a:cs typeface="Times New Roman" pitchFamily="18" charset="0"/>
              </a:rPr>
              <a:t>M&amp;A strategy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9EB36B-4A03-9A7A-8522-53D0D4E6E039}"/>
              </a:ext>
            </a:extLst>
          </p:cNvPr>
          <p:cNvSpPr/>
          <p:nvPr/>
        </p:nvSpPr>
        <p:spPr>
          <a:xfrm>
            <a:off x="544029" y="2866476"/>
            <a:ext cx="2086201" cy="1138773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M&amp;A objectives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Organizing for M&amp;A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Guiding principles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Target screening criteria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D13808-41D0-6F49-DF46-E9D58B181A99}"/>
              </a:ext>
            </a:extLst>
          </p:cNvPr>
          <p:cNvSpPr/>
          <p:nvPr/>
        </p:nvSpPr>
        <p:spPr>
          <a:xfrm>
            <a:off x="9421744" y="2866476"/>
            <a:ext cx="2086201" cy="1980029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Post-merger strategy and high-level plan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Day 1 readiness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100-day plan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Synergy realization and detailed integration plans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Implementation and monitoring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C35204-2B09-D01A-CE29-324046709419}"/>
              </a:ext>
            </a:extLst>
          </p:cNvPr>
          <p:cNvSpPr/>
          <p:nvPr/>
        </p:nvSpPr>
        <p:spPr>
          <a:xfrm>
            <a:off x="2763458" y="2866476"/>
            <a:ext cx="2086201" cy="2451953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Target identification 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Data collection and </a:t>
            </a:r>
            <a:br>
              <a:rPr lang="en-US" sz="1200"/>
            </a:br>
            <a:r>
              <a:rPr lang="en-US" sz="1200"/>
              <a:t>high-level assessment 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Target shortlisting 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Indicative valuation and financial analysis 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Target approval for due diligence phase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Initiation of contact and letter of intent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D3654B-8EB7-5DC6-D9B1-0D9A9B3D5B8D}"/>
              </a:ext>
            </a:extLst>
          </p:cNvPr>
          <p:cNvSpPr/>
          <p:nvPr/>
        </p:nvSpPr>
        <p:spPr>
          <a:xfrm>
            <a:off x="4982887" y="2866476"/>
            <a:ext cx="2086201" cy="3293209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Due diligence project plan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Due diligence hypothesis framework and approach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Commercial, financial, operations, IT, management, legal and environmental due diligence 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Financial modelling </a:t>
            </a:r>
            <a:br>
              <a:rPr lang="en-US" sz="1200" dirty="0"/>
            </a:br>
            <a:r>
              <a:rPr lang="en-US" sz="1200" dirty="0"/>
              <a:t>and business case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Synergy assessment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Summary of strategic recommendations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Next steps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16B8475-4B9C-2AA7-66BE-1CC8073E3E7D}"/>
              </a:ext>
            </a:extLst>
          </p:cNvPr>
          <p:cNvSpPr/>
          <p:nvPr/>
        </p:nvSpPr>
        <p:spPr>
          <a:xfrm>
            <a:off x="7202316" y="2866476"/>
            <a:ext cx="1711407" cy="851515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Structure of deal 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Negotiation strategy 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Signing and closing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346B25-174B-47AA-38A3-90F41F3D68D8}"/>
              </a:ext>
            </a:extLst>
          </p:cNvPr>
          <p:cNvSpPr txBox="1"/>
          <p:nvPr/>
        </p:nvSpPr>
        <p:spPr>
          <a:xfrm>
            <a:off x="467806" y="1695536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Phase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3FD1C5-33D6-7729-71CF-80A00ED1AC0E}"/>
              </a:ext>
            </a:extLst>
          </p:cNvPr>
          <p:cNvSpPr txBox="1"/>
          <p:nvPr/>
        </p:nvSpPr>
        <p:spPr>
          <a:xfrm>
            <a:off x="2763458" y="1695536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74B00B-7AE9-9E9A-8F9C-96174EB6E937}"/>
              </a:ext>
            </a:extLst>
          </p:cNvPr>
          <p:cNvSpPr txBox="1"/>
          <p:nvPr/>
        </p:nvSpPr>
        <p:spPr>
          <a:xfrm>
            <a:off x="4929061" y="1695536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A9B87F-D59E-E6EC-0B87-53C15B352473}"/>
              </a:ext>
            </a:extLst>
          </p:cNvPr>
          <p:cNvSpPr txBox="1"/>
          <p:nvPr/>
        </p:nvSpPr>
        <p:spPr>
          <a:xfrm>
            <a:off x="7202316" y="1695536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82553D-0DFD-A732-7B68-6C6C129112EE}"/>
              </a:ext>
            </a:extLst>
          </p:cNvPr>
          <p:cNvSpPr txBox="1"/>
          <p:nvPr/>
        </p:nvSpPr>
        <p:spPr>
          <a:xfrm>
            <a:off x="9421744" y="1695536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5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BD5A21-2847-B762-F671-9D5B02ECB8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426CC7-AEFB-DF70-8DDE-C5AAE165A63A}"/>
              </a:ext>
            </a:extLst>
          </p:cNvPr>
          <p:cNvSpPr/>
          <p:nvPr/>
        </p:nvSpPr>
        <p:spPr>
          <a:xfrm>
            <a:off x="9644063" y="1"/>
            <a:ext cx="2547937" cy="12301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chemeClr val="tx1"/>
                </a:solidFill>
              </a:rPr>
              <a:t>Slideworks note: Insert whatever process is most relevant for your case</a:t>
            </a: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EAC91224-9E36-2551-673C-77B2199D8B6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38;p14">
            <a:extLst>
              <a:ext uri="{FF2B5EF4-FFF2-40B4-BE49-F238E27FC236}">
                <a16:creationId xmlns:a16="http://schemas.microsoft.com/office/drawing/2014/main" id="{2E38B7FA-9DC5-AF93-ADE2-B804CBA0BAFB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820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A066A6-FCB9-FEF2-E2F8-C1D85353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[Project] will evolve through four main phases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703576-0142-C100-4DFE-0F45E0EC3C3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9A852880-53BA-5130-2C53-B11491A08FBE}"/>
              </a:ext>
            </a:extLst>
          </p:cNvPr>
          <p:cNvSpPr/>
          <p:nvPr/>
        </p:nvSpPr>
        <p:spPr>
          <a:xfrm>
            <a:off x="2194860" y="1917778"/>
            <a:ext cx="2514331" cy="585216"/>
          </a:xfrm>
          <a:prstGeom prst="homePlat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[Phase 1]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D0BA6521-0D24-E51D-BEF8-C85845D89DFB}"/>
              </a:ext>
            </a:extLst>
          </p:cNvPr>
          <p:cNvSpPr/>
          <p:nvPr/>
        </p:nvSpPr>
        <p:spPr>
          <a:xfrm>
            <a:off x="6813576" y="1917778"/>
            <a:ext cx="2514331" cy="583324"/>
          </a:xfrm>
          <a:prstGeom prst="chevron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[Phase 3]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853E7A68-6FA9-2EB0-FF05-4805C59137DF}"/>
              </a:ext>
            </a:extLst>
          </p:cNvPr>
          <p:cNvSpPr/>
          <p:nvPr/>
        </p:nvSpPr>
        <p:spPr>
          <a:xfrm>
            <a:off x="9122933" y="1917778"/>
            <a:ext cx="2514331" cy="583324"/>
          </a:xfrm>
          <a:prstGeom prst="chevron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[Phase 4]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6976F1-F013-3F06-D091-428F91489AF7}"/>
              </a:ext>
            </a:extLst>
          </p:cNvPr>
          <p:cNvSpPr/>
          <p:nvPr/>
        </p:nvSpPr>
        <p:spPr>
          <a:xfrm>
            <a:off x="554736" y="2605034"/>
            <a:ext cx="1589374" cy="48873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Key meetings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FBAE5C-4A2C-3898-88E6-F637F61334A8}"/>
              </a:ext>
            </a:extLst>
          </p:cNvPr>
          <p:cNvSpPr/>
          <p:nvPr/>
        </p:nvSpPr>
        <p:spPr>
          <a:xfrm>
            <a:off x="554736" y="5369943"/>
            <a:ext cx="1589374" cy="100584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Responsible leads and participants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39ABEC-1E38-5400-D193-EA5DA5E30BC3}"/>
              </a:ext>
            </a:extLst>
          </p:cNvPr>
          <p:cNvSpPr/>
          <p:nvPr/>
        </p:nvSpPr>
        <p:spPr>
          <a:xfrm>
            <a:off x="554735" y="3181931"/>
            <a:ext cx="777240" cy="2099846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 err="1">
                <a:solidFill>
                  <a:schemeClr val="bg1"/>
                </a:solidFill>
              </a:rPr>
              <a:t>Delive-rables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CD1C05-9982-988D-A29D-E7CBDEB3FAAD}"/>
              </a:ext>
            </a:extLst>
          </p:cNvPr>
          <p:cNvSpPr/>
          <p:nvPr/>
        </p:nvSpPr>
        <p:spPr>
          <a:xfrm>
            <a:off x="1366870" y="4275937"/>
            <a:ext cx="777240" cy="1005840"/>
          </a:xfrm>
          <a:prstGeom prst="rect">
            <a:avLst/>
          </a:prstGeom>
          <a:solidFill>
            <a:schemeClr val="accent1">
              <a:alpha val="57685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[Insert track]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AADBCD-CA4A-3746-1CD5-66FFFDB9D2CC}"/>
              </a:ext>
            </a:extLst>
          </p:cNvPr>
          <p:cNvSpPr/>
          <p:nvPr/>
        </p:nvSpPr>
        <p:spPr>
          <a:xfrm>
            <a:off x="1366870" y="3181931"/>
            <a:ext cx="777240" cy="1005840"/>
          </a:xfrm>
          <a:prstGeom prst="rect">
            <a:avLst/>
          </a:prstGeom>
          <a:solidFill>
            <a:schemeClr val="accent1">
              <a:alpha val="57685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[Insert track]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3C13B2-C0F1-C972-2ABB-0C7A854FA397}"/>
              </a:ext>
            </a:extLst>
          </p:cNvPr>
          <p:cNvCxnSpPr>
            <a:cxnSpLocks/>
          </p:cNvCxnSpPr>
          <p:nvPr/>
        </p:nvCxnSpPr>
        <p:spPr>
          <a:xfrm flipH="1">
            <a:off x="554736" y="3137848"/>
            <a:ext cx="11082528" cy="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8DCA8C-9B92-961A-BD9A-4782681E2FD9}"/>
              </a:ext>
            </a:extLst>
          </p:cNvPr>
          <p:cNvCxnSpPr>
            <a:cxnSpLocks/>
          </p:cNvCxnSpPr>
          <p:nvPr/>
        </p:nvCxnSpPr>
        <p:spPr>
          <a:xfrm>
            <a:off x="2194860" y="1727672"/>
            <a:ext cx="2232415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326F987-FE90-B686-EFE4-02343DBA4540}"/>
              </a:ext>
            </a:extLst>
          </p:cNvPr>
          <p:cNvSpPr txBox="1"/>
          <p:nvPr/>
        </p:nvSpPr>
        <p:spPr>
          <a:xfrm>
            <a:off x="2733755" y="1650809"/>
            <a:ext cx="1154624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[Insert timeline]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E657E00-6BC9-D88B-F571-7885E1A04A9C}"/>
              </a:ext>
            </a:extLst>
          </p:cNvPr>
          <p:cNvCxnSpPr>
            <a:cxnSpLocks/>
          </p:cNvCxnSpPr>
          <p:nvPr/>
        </p:nvCxnSpPr>
        <p:spPr>
          <a:xfrm>
            <a:off x="6813576" y="1727672"/>
            <a:ext cx="2232415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086507F-7DAF-9839-41A6-331B5278AB81}"/>
              </a:ext>
            </a:extLst>
          </p:cNvPr>
          <p:cNvCxnSpPr>
            <a:cxnSpLocks/>
          </p:cNvCxnSpPr>
          <p:nvPr/>
        </p:nvCxnSpPr>
        <p:spPr>
          <a:xfrm>
            <a:off x="9122933" y="1727672"/>
            <a:ext cx="2232415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610A29-CD48-AA63-FF8C-571972B78671}"/>
              </a:ext>
            </a:extLst>
          </p:cNvPr>
          <p:cNvSpPr txBox="1"/>
          <p:nvPr/>
        </p:nvSpPr>
        <p:spPr>
          <a:xfrm>
            <a:off x="7352471" y="1650809"/>
            <a:ext cx="1154624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[Insert timeline]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0A97BC-9F05-7141-CBA9-55DFBF66ABC8}"/>
              </a:ext>
            </a:extLst>
          </p:cNvPr>
          <p:cNvSpPr txBox="1"/>
          <p:nvPr/>
        </p:nvSpPr>
        <p:spPr>
          <a:xfrm>
            <a:off x="9523783" y="1650809"/>
            <a:ext cx="1430715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[Insert timeline]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53D7A0-978E-45DA-ED9F-BC890CEFCEB8}"/>
              </a:ext>
            </a:extLst>
          </p:cNvPr>
          <p:cNvCxnSpPr>
            <a:cxnSpLocks/>
          </p:cNvCxnSpPr>
          <p:nvPr/>
        </p:nvCxnSpPr>
        <p:spPr>
          <a:xfrm flipH="1">
            <a:off x="554736" y="5325860"/>
            <a:ext cx="11082528" cy="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250BBEE-E850-72E6-7946-068060D4B1DD}"/>
              </a:ext>
            </a:extLst>
          </p:cNvPr>
          <p:cNvCxnSpPr>
            <a:cxnSpLocks/>
          </p:cNvCxnSpPr>
          <p:nvPr/>
        </p:nvCxnSpPr>
        <p:spPr>
          <a:xfrm flipH="1">
            <a:off x="1366870" y="4231853"/>
            <a:ext cx="10270394" cy="0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9CFBD59-FD58-B57F-06E1-EED3A35F86F3}"/>
              </a:ext>
            </a:extLst>
          </p:cNvPr>
          <p:cNvSpPr/>
          <p:nvPr/>
        </p:nvSpPr>
        <p:spPr>
          <a:xfrm>
            <a:off x="2194860" y="3181931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3466FB-34FE-0AAD-78C1-BC10BAC171CC}"/>
              </a:ext>
            </a:extLst>
          </p:cNvPr>
          <p:cNvSpPr/>
          <p:nvPr/>
        </p:nvSpPr>
        <p:spPr>
          <a:xfrm>
            <a:off x="2194860" y="4275939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CF9CA1E-A38B-6AD1-A6FB-7B2CB88E0D2A}"/>
              </a:ext>
            </a:extLst>
          </p:cNvPr>
          <p:cNvSpPr/>
          <p:nvPr/>
        </p:nvSpPr>
        <p:spPr>
          <a:xfrm>
            <a:off x="2194860" y="5369945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A10671-F6B6-49D8-8D11-74C54D748051}"/>
              </a:ext>
            </a:extLst>
          </p:cNvPr>
          <p:cNvSpPr txBox="1"/>
          <p:nvPr/>
        </p:nvSpPr>
        <p:spPr>
          <a:xfrm>
            <a:off x="3424687" y="367485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3C5DA8A-CCD9-901C-3714-C0B55AD74ECF}"/>
              </a:ext>
            </a:extLst>
          </p:cNvPr>
          <p:cNvSpPr/>
          <p:nvPr/>
        </p:nvSpPr>
        <p:spPr>
          <a:xfrm>
            <a:off x="6813576" y="3181931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AD70C50-2B2E-A4DF-7332-42408BFD3733}"/>
              </a:ext>
            </a:extLst>
          </p:cNvPr>
          <p:cNvSpPr/>
          <p:nvPr/>
        </p:nvSpPr>
        <p:spPr>
          <a:xfrm>
            <a:off x="6813576" y="4275939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97CF0A-C5EB-9762-9358-0B111CAB2EFB}"/>
              </a:ext>
            </a:extLst>
          </p:cNvPr>
          <p:cNvSpPr/>
          <p:nvPr/>
        </p:nvSpPr>
        <p:spPr>
          <a:xfrm>
            <a:off x="6813576" y="5369945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ACACAF-DFAB-0572-418C-F3DEFA1FB8DF}"/>
              </a:ext>
            </a:extLst>
          </p:cNvPr>
          <p:cNvSpPr/>
          <p:nvPr/>
        </p:nvSpPr>
        <p:spPr>
          <a:xfrm>
            <a:off x="9122933" y="3181931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711B61-4B51-4933-A49E-A83ACECA07BF}"/>
              </a:ext>
            </a:extLst>
          </p:cNvPr>
          <p:cNvSpPr/>
          <p:nvPr/>
        </p:nvSpPr>
        <p:spPr>
          <a:xfrm>
            <a:off x="9122933" y="4275939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499D55-CB3B-2F50-CCC9-3E0F9016BF89}"/>
              </a:ext>
            </a:extLst>
          </p:cNvPr>
          <p:cNvSpPr/>
          <p:nvPr/>
        </p:nvSpPr>
        <p:spPr>
          <a:xfrm>
            <a:off x="9122933" y="5369945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</p:txBody>
      </p:sp>
      <p:sp>
        <p:nvSpPr>
          <p:cNvPr id="50" name="Triangle 49">
            <a:extLst>
              <a:ext uri="{FF2B5EF4-FFF2-40B4-BE49-F238E27FC236}">
                <a16:creationId xmlns:a16="http://schemas.microsoft.com/office/drawing/2014/main" id="{1EBC5710-C37B-E97F-55B5-DEFE66165E98}"/>
              </a:ext>
            </a:extLst>
          </p:cNvPr>
          <p:cNvSpPr/>
          <p:nvPr/>
        </p:nvSpPr>
        <p:spPr>
          <a:xfrm>
            <a:off x="2828023" y="2532916"/>
            <a:ext cx="228600" cy="225824"/>
          </a:xfrm>
          <a:prstGeom prst="triangl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1" name="Triangle 50">
            <a:extLst>
              <a:ext uri="{FF2B5EF4-FFF2-40B4-BE49-F238E27FC236}">
                <a16:creationId xmlns:a16="http://schemas.microsoft.com/office/drawing/2014/main" id="{4EC7CB6E-F374-5C35-32AD-81AF949E65FE}"/>
              </a:ext>
            </a:extLst>
          </p:cNvPr>
          <p:cNvSpPr/>
          <p:nvPr/>
        </p:nvSpPr>
        <p:spPr>
          <a:xfrm>
            <a:off x="3582770" y="2532916"/>
            <a:ext cx="228600" cy="225824"/>
          </a:xfrm>
          <a:prstGeom prst="triangl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5" name="Triangle 54">
            <a:extLst>
              <a:ext uri="{FF2B5EF4-FFF2-40B4-BE49-F238E27FC236}">
                <a16:creationId xmlns:a16="http://schemas.microsoft.com/office/drawing/2014/main" id="{86CF8F54-1FF9-4A3C-EE07-1B673638E985}"/>
              </a:ext>
            </a:extLst>
          </p:cNvPr>
          <p:cNvSpPr/>
          <p:nvPr/>
        </p:nvSpPr>
        <p:spPr>
          <a:xfrm>
            <a:off x="5626036" y="2532916"/>
            <a:ext cx="228600" cy="225824"/>
          </a:xfrm>
          <a:prstGeom prst="triangl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6" name="Triangle 55">
            <a:extLst>
              <a:ext uri="{FF2B5EF4-FFF2-40B4-BE49-F238E27FC236}">
                <a16:creationId xmlns:a16="http://schemas.microsoft.com/office/drawing/2014/main" id="{AEFB755F-3907-59D6-A153-E4BEC6FBB253}"/>
              </a:ext>
            </a:extLst>
          </p:cNvPr>
          <p:cNvSpPr/>
          <p:nvPr/>
        </p:nvSpPr>
        <p:spPr>
          <a:xfrm>
            <a:off x="6352543" y="2532916"/>
            <a:ext cx="228600" cy="225824"/>
          </a:xfrm>
          <a:prstGeom prst="triangl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7" name="Triangle 56">
            <a:extLst>
              <a:ext uri="{FF2B5EF4-FFF2-40B4-BE49-F238E27FC236}">
                <a16:creationId xmlns:a16="http://schemas.microsoft.com/office/drawing/2014/main" id="{258C5C3A-6362-9760-2DB7-4BE3FCF1C7C0}"/>
              </a:ext>
            </a:extLst>
          </p:cNvPr>
          <p:cNvSpPr/>
          <p:nvPr/>
        </p:nvSpPr>
        <p:spPr>
          <a:xfrm>
            <a:off x="6654672" y="2532916"/>
            <a:ext cx="228600" cy="225824"/>
          </a:xfrm>
          <a:prstGeom prst="triangle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8" name="Triangle 57">
            <a:extLst>
              <a:ext uri="{FF2B5EF4-FFF2-40B4-BE49-F238E27FC236}">
                <a16:creationId xmlns:a16="http://schemas.microsoft.com/office/drawing/2014/main" id="{FAD9278F-E092-23C1-5084-590DF929EA6F}"/>
              </a:ext>
            </a:extLst>
          </p:cNvPr>
          <p:cNvSpPr/>
          <p:nvPr/>
        </p:nvSpPr>
        <p:spPr>
          <a:xfrm>
            <a:off x="8964029" y="2532916"/>
            <a:ext cx="228600" cy="225824"/>
          </a:xfrm>
          <a:prstGeom prst="triangle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E478A8-F8A3-033A-87ED-7425F2B9021D}"/>
              </a:ext>
            </a:extLst>
          </p:cNvPr>
          <p:cNvSpPr txBox="1"/>
          <p:nvPr/>
        </p:nvSpPr>
        <p:spPr>
          <a:xfrm>
            <a:off x="7816645" y="557489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7A6B4A-ACD5-461E-A9B6-EE01D2E9B20D}"/>
              </a:ext>
            </a:extLst>
          </p:cNvPr>
          <p:cNvSpPr txBox="1"/>
          <p:nvPr/>
        </p:nvSpPr>
        <p:spPr>
          <a:xfrm>
            <a:off x="2645502" y="2760565"/>
            <a:ext cx="593642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 err="1"/>
              <a:t>SteerCo</a:t>
            </a:r>
            <a:endParaRPr 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874248F-9957-42EE-A223-D175EBF448F8}"/>
              </a:ext>
            </a:extLst>
          </p:cNvPr>
          <p:cNvSpPr txBox="1"/>
          <p:nvPr/>
        </p:nvSpPr>
        <p:spPr>
          <a:xfrm>
            <a:off x="3400249" y="2760565"/>
            <a:ext cx="593642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 err="1"/>
              <a:t>SteerCo</a:t>
            </a:r>
            <a:endParaRPr lang="en-US" sz="1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2E4C62B-BDAD-41D5-8028-FE56CF028F07}"/>
              </a:ext>
            </a:extLst>
          </p:cNvPr>
          <p:cNvSpPr txBox="1"/>
          <p:nvPr/>
        </p:nvSpPr>
        <p:spPr>
          <a:xfrm>
            <a:off x="5443286" y="2760565"/>
            <a:ext cx="593642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 err="1"/>
              <a:t>SteerCo</a:t>
            </a:r>
            <a:endParaRPr lang="en-US" sz="1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891483-85DF-3768-41CC-D3D16330DA99}"/>
              </a:ext>
            </a:extLst>
          </p:cNvPr>
          <p:cNvSpPr txBox="1"/>
          <p:nvPr/>
        </p:nvSpPr>
        <p:spPr>
          <a:xfrm>
            <a:off x="6167214" y="2760565"/>
            <a:ext cx="593642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 err="1"/>
              <a:t>SteerCo</a:t>
            </a:r>
            <a:endParaRPr lang="en-US"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EF5EA62-A8D3-DFA4-6F4B-59789A728400}"/>
              </a:ext>
            </a:extLst>
          </p:cNvPr>
          <p:cNvSpPr txBox="1"/>
          <p:nvPr/>
        </p:nvSpPr>
        <p:spPr>
          <a:xfrm>
            <a:off x="6423875" y="2931952"/>
            <a:ext cx="690193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/>
              <a:t>[Milestone]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79D904-F980-4C8A-7931-2F9971DEB923}"/>
              </a:ext>
            </a:extLst>
          </p:cNvPr>
          <p:cNvSpPr txBox="1"/>
          <p:nvPr/>
        </p:nvSpPr>
        <p:spPr>
          <a:xfrm>
            <a:off x="8456767" y="2931952"/>
            <a:ext cx="1243123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/>
              <a:t>[Milestone]</a:t>
            </a:r>
          </a:p>
        </p:txBody>
      </p:sp>
      <p:sp>
        <p:nvSpPr>
          <p:cNvPr id="3" name="Chevron 2">
            <a:extLst>
              <a:ext uri="{FF2B5EF4-FFF2-40B4-BE49-F238E27FC236}">
                <a16:creationId xmlns:a16="http://schemas.microsoft.com/office/drawing/2014/main" id="{25D4C780-7C50-026A-6659-AF9A72113620}"/>
              </a:ext>
            </a:extLst>
          </p:cNvPr>
          <p:cNvSpPr/>
          <p:nvPr/>
        </p:nvSpPr>
        <p:spPr>
          <a:xfrm>
            <a:off x="4504218" y="1917778"/>
            <a:ext cx="2514331" cy="583324"/>
          </a:xfrm>
          <a:prstGeom prst="chevron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[Phase 2]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8537E9-0B8D-0902-EABE-C15CD8731612}"/>
              </a:ext>
            </a:extLst>
          </p:cNvPr>
          <p:cNvCxnSpPr>
            <a:cxnSpLocks/>
          </p:cNvCxnSpPr>
          <p:nvPr/>
        </p:nvCxnSpPr>
        <p:spPr>
          <a:xfrm>
            <a:off x="4504218" y="1727672"/>
            <a:ext cx="2232415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547A29E-3E29-BF10-CA9D-45BEB3FAD3FE}"/>
              </a:ext>
            </a:extLst>
          </p:cNvPr>
          <p:cNvSpPr txBox="1"/>
          <p:nvPr/>
        </p:nvSpPr>
        <p:spPr>
          <a:xfrm>
            <a:off x="5043113" y="1650809"/>
            <a:ext cx="1154624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[Insert timeline]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CBF513D-68D1-1AAF-2B9C-FE12C9615D67}"/>
              </a:ext>
            </a:extLst>
          </p:cNvPr>
          <p:cNvSpPr/>
          <p:nvPr/>
        </p:nvSpPr>
        <p:spPr>
          <a:xfrm>
            <a:off x="4504218" y="3181931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8BD02B-B026-E647-5170-52BD2F237474}"/>
              </a:ext>
            </a:extLst>
          </p:cNvPr>
          <p:cNvSpPr/>
          <p:nvPr/>
        </p:nvSpPr>
        <p:spPr>
          <a:xfrm>
            <a:off x="4504218" y="4275939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FD5BA6E-9709-D714-2CFF-06CA33E4E726}"/>
              </a:ext>
            </a:extLst>
          </p:cNvPr>
          <p:cNvSpPr/>
          <p:nvPr/>
        </p:nvSpPr>
        <p:spPr>
          <a:xfrm>
            <a:off x="4504218" y="5369945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</p:txBody>
      </p:sp>
      <p:sp>
        <p:nvSpPr>
          <p:cNvPr id="52" name="Triangle 51">
            <a:extLst>
              <a:ext uri="{FF2B5EF4-FFF2-40B4-BE49-F238E27FC236}">
                <a16:creationId xmlns:a16="http://schemas.microsoft.com/office/drawing/2014/main" id="{EA58DDF4-8C28-FE34-FA5E-A7A3BB6BB39D}"/>
              </a:ext>
            </a:extLst>
          </p:cNvPr>
          <p:cNvSpPr/>
          <p:nvPr/>
        </p:nvSpPr>
        <p:spPr>
          <a:xfrm>
            <a:off x="4337517" y="2532916"/>
            <a:ext cx="228600" cy="225824"/>
          </a:xfrm>
          <a:prstGeom prst="triangle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3" name="Triangle 52">
            <a:extLst>
              <a:ext uri="{FF2B5EF4-FFF2-40B4-BE49-F238E27FC236}">
                <a16:creationId xmlns:a16="http://schemas.microsoft.com/office/drawing/2014/main" id="{4F0520C9-57B2-70D1-2857-01B85797C7C8}"/>
              </a:ext>
            </a:extLst>
          </p:cNvPr>
          <p:cNvSpPr/>
          <p:nvPr/>
        </p:nvSpPr>
        <p:spPr>
          <a:xfrm>
            <a:off x="4899529" y="2532916"/>
            <a:ext cx="228600" cy="225824"/>
          </a:xfrm>
          <a:prstGeom prst="triangl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2822819-8D13-0AC8-3BB4-BE659A47EE7D}"/>
              </a:ext>
            </a:extLst>
          </p:cNvPr>
          <p:cNvSpPr txBox="1"/>
          <p:nvPr/>
        </p:nvSpPr>
        <p:spPr>
          <a:xfrm>
            <a:off x="4719358" y="2760565"/>
            <a:ext cx="593642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 err="1"/>
              <a:t>SteerCo</a:t>
            </a:r>
            <a:endParaRPr 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4581A0-046E-5027-8A7B-1F05CA9DFD10}"/>
              </a:ext>
            </a:extLst>
          </p:cNvPr>
          <p:cNvSpPr txBox="1"/>
          <p:nvPr/>
        </p:nvSpPr>
        <p:spPr>
          <a:xfrm>
            <a:off x="4106720" y="2936596"/>
            <a:ext cx="690193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/>
              <a:t>[Milestone]</a:t>
            </a:r>
          </a:p>
        </p:txBody>
      </p:sp>
      <p:sp>
        <p:nvSpPr>
          <p:cNvPr id="7" name="Google Shape;746;p20">
            <a:extLst>
              <a:ext uri="{FF2B5EF4-FFF2-40B4-BE49-F238E27FC236}">
                <a16:creationId xmlns:a16="http://schemas.microsoft.com/office/drawing/2014/main" id="{D47AF818-AFE6-C3EA-6372-A37952799BA4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0016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77BA6-0EB6-95E1-C06C-DB3AD7C3D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BE464B94-919E-CB24-7332-194A2C316EF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61" imgH="264" progId="TCLayout.ActiveDocument.1">
                  <p:embed/>
                </p:oleObj>
              </mc:Choice>
              <mc:Fallback>
                <p:oleObj name="think-cell Slide" r:id="rId4" imgW="261" imgH="26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E464B94-919E-CB24-7332-194A2C316E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F8FEA9FA-83EB-0D56-0CCB-D1E2B6A48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US" dirty="0"/>
              <a:t>Project charter for Project [insert name]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1CB7E-6A31-4789-AEA5-B5B3F1A31785}"/>
              </a:ext>
            </a:extLst>
          </p:cNvPr>
          <p:cNvSpPr txBox="1"/>
          <p:nvPr/>
        </p:nvSpPr>
        <p:spPr>
          <a:xfrm>
            <a:off x="6172204" y="1497013"/>
            <a:ext cx="5465060" cy="199696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Key deliverables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E63BF0-F306-AF60-0771-7E8C45B3532A}"/>
              </a:ext>
            </a:extLst>
          </p:cNvPr>
          <p:cNvSpPr txBox="1"/>
          <p:nvPr/>
        </p:nvSpPr>
        <p:spPr>
          <a:xfrm>
            <a:off x="554735" y="1497013"/>
            <a:ext cx="5465060" cy="8270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en-US" sz="1200" b="1" dirty="0"/>
              <a:t>Project objectives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main objectives for project]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main objectives for project]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335DD5-5927-E433-8DED-47C09304E7AE}"/>
              </a:ext>
            </a:extLst>
          </p:cNvPr>
          <p:cNvSpPr txBox="1"/>
          <p:nvPr/>
        </p:nvSpPr>
        <p:spPr>
          <a:xfrm>
            <a:off x="554735" y="2420116"/>
            <a:ext cx="5465060" cy="107385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en-US" sz="1200" b="1" dirty="0"/>
              <a:t>KPIs</a:t>
            </a:r>
            <a:endParaRPr lang="en-US" sz="1200" dirty="0"/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main KPIs for project]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main KPIs for project]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main KPIs for project]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AF6A26-6BDC-A47C-D6AB-40167FE13F53}"/>
              </a:ext>
            </a:extLst>
          </p:cNvPr>
          <p:cNvSpPr txBox="1"/>
          <p:nvPr/>
        </p:nvSpPr>
        <p:spPr>
          <a:xfrm>
            <a:off x="554735" y="5268082"/>
            <a:ext cx="5465060" cy="1072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en-US" sz="1200" b="1" dirty="0"/>
              <a:t>In scope</a:t>
            </a:r>
            <a:endParaRPr lang="en-US" sz="1200" dirty="0"/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scope]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scope]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scope]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6C40FD-92E4-12B5-D5EC-7239CA031962}"/>
              </a:ext>
            </a:extLst>
          </p:cNvPr>
          <p:cNvSpPr txBox="1"/>
          <p:nvPr/>
        </p:nvSpPr>
        <p:spPr>
          <a:xfrm>
            <a:off x="6172204" y="5268082"/>
            <a:ext cx="5465060" cy="1072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en-US" sz="1200" b="1" dirty="0"/>
              <a:t>Out of scope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what is out of scope]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what is out of scope]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what is out of scope]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0E8036-DC73-873C-0CFA-8702785F5876}"/>
              </a:ext>
            </a:extLst>
          </p:cNvPr>
          <p:cNvSpPr txBox="1"/>
          <p:nvPr/>
        </p:nvSpPr>
        <p:spPr>
          <a:xfrm>
            <a:off x="6172205" y="3589990"/>
            <a:ext cx="5465060" cy="158533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200" b="1" dirty="0"/>
              <a:t>Schedule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30EBE0-609F-7FDB-66C5-A97556F9CBCE}"/>
              </a:ext>
            </a:extLst>
          </p:cNvPr>
          <p:cNvSpPr txBox="1"/>
          <p:nvPr/>
        </p:nvSpPr>
        <p:spPr>
          <a:xfrm>
            <a:off x="554735" y="3589990"/>
            <a:ext cx="5465060" cy="15820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en-US" sz="1200" b="1" dirty="0"/>
              <a:t>Key stakeholders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name], [Insert role]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name], [Insert role]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name], [Insert role]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name], [Insert role]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name], [Insert role]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8E22110-5761-8104-DE63-6C75958CF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13806"/>
              </p:ext>
            </p:extLst>
          </p:nvPr>
        </p:nvGraphicFramePr>
        <p:xfrm>
          <a:off x="6288945" y="3904375"/>
          <a:ext cx="5231581" cy="1227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2621">
                  <a:extLst>
                    <a:ext uri="{9D8B030D-6E8A-4147-A177-3AD203B41FA5}">
                      <a16:colId xmlns:a16="http://schemas.microsoft.com/office/drawing/2014/main" val="855813881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846615772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3663014576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3988050754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2346432379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2380657661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4003165564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2483118856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2649445574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3685594934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3767597510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3963559502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1305883050"/>
                    </a:ext>
                  </a:extLst>
                </a:gridCol>
              </a:tblGrid>
              <a:tr h="30689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Year</a:t>
                      </a:r>
                    </a:p>
                  </a:txBody>
                  <a:tcPr marL="36576" marR="36576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Jan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Feb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Mar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Apr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May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Jun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Jul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Aug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Sep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Oct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Nov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Dec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432158"/>
                  </a:ext>
                </a:extLst>
              </a:tr>
              <a:tr h="30689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1</a:t>
                      </a:r>
                    </a:p>
                  </a:txBody>
                  <a:tcPr marL="36576" marR="36576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431531"/>
                  </a:ext>
                </a:extLst>
              </a:tr>
              <a:tr h="30689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2</a:t>
                      </a:r>
                    </a:p>
                  </a:txBody>
                  <a:tcPr marL="36576" marR="36576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045936"/>
                  </a:ext>
                </a:extLst>
              </a:tr>
              <a:tr h="30689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3</a:t>
                      </a:r>
                    </a:p>
                  </a:txBody>
                  <a:tcPr marL="36576" marR="36576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53372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61AED43-31F4-41F6-5F9E-AD599741A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501730"/>
              </p:ext>
            </p:extLst>
          </p:nvPr>
        </p:nvGraphicFramePr>
        <p:xfrm>
          <a:off x="6288945" y="1910556"/>
          <a:ext cx="5231578" cy="1529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2111">
                  <a:extLst>
                    <a:ext uri="{9D8B030D-6E8A-4147-A177-3AD203B41FA5}">
                      <a16:colId xmlns:a16="http://schemas.microsoft.com/office/drawing/2014/main" val="855813881"/>
                    </a:ext>
                  </a:extLst>
                </a:gridCol>
                <a:gridCol w="1054380">
                  <a:extLst>
                    <a:ext uri="{9D8B030D-6E8A-4147-A177-3AD203B41FA5}">
                      <a16:colId xmlns:a16="http://schemas.microsoft.com/office/drawing/2014/main" val="846615772"/>
                    </a:ext>
                  </a:extLst>
                </a:gridCol>
                <a:gridCol w="1595087">
                  <a:extLst>
                    <a:ext uri="{9D8B030D-6E8A-4147-A177-3AD203B41FA5}">
                      <a16:colId xmlns:a16="http://schemas.microsoft.com/office/drawing/2014/main" val="3663014576"/>
                    </a:ext>
                  </a:extLst>
                </a:gridCol>
              </a:tblGrid>
              <a:tr h="144276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Owner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Due date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432158"/>
                  </a:ext>
                </a:extLst>
              </a:tr>
              <a:tr h="144276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deliverable]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name]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date]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431531"/>
                  </a:ext>
                </a:extLst>
              </a:tr>
              <a:tr h="144276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deliverable]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[Insert name]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date]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480270"/>
                  </a:ext>
                </a:extLst>
              </a:tr>
              <a:tr h="144276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deliverable]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[Insert name]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date]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759549"/>
                  </a:ext>
                </a:extLst>
              </a:tr>
              <a:tr h="144276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deliverable]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[Insert name]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date]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500056"/>
                  </a:ext>
                </a:extLst>
              </a:tr>
              <a:tr h="144276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deliverable]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[Insert name]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date]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04524"/>
                  </a:ext>
                </a:extLst>
              </a:tr>
            </a:tbl>
          </a:graphicData>
        </a:graphic>
      </p:graphicFrame>
      <p:sp>
        <p:nvSpPr>
          <p:cNvPr id="27" name="Text Box 6">
            <a:extLst>
              <a:ext uri="{FF2B5EF4-FFF2-40B4-BE49-F238E27FC236}">
                <a16:creationId xmlns:a16="http://schemas.microsoft.com/office/drawing/2014/main" id="{71D92461-6935-EEA2-5B96-F2320BEC399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923084" y="4282507"/>
            <a:ext cx="790935" cy="167462"/>
          </a:xfrm>
          <a:prstGeom prst="homePlate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noProof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8" name="Text Box 7">
            <a:extLst>
              <a:ext uri="{FF2B5EF4-FFF2-40B4-BE49-F238E27FC236}">
                <a16:creationId xmlns:a16="http://schemas.microsoft.com/office/drawing/2014/main" id="{47F998CE-76EB-E1F5-4EC7-4381D944E31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664977" y="4282507"/>
            <a:ext cx="790935" cy="167462"/>
          </a:xfrm>
          <a:prstGeom prst="chevron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noProof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9" name="Text Box 7">
            <a:extLst>
              <a:ext uri="{FF2B5EF4-FFF2-40B4-BE49-F238E27FC236}">
                <a16:creationId xmlns:a16="http://schemas.microsoft.com/office/drawing/2014/main" id="{6BC341F0-DDF8-6284-5515-9525C860535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406870" y="4282507"/>
            <a:ext cx="790935" cy="167462"/>
          </a:xfrm>
          <a:prstGeom prst="chevron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noProof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1" name="Text Box 6">
            <a:extLst>
              <a:ext uri="{FF2B5EF4-FFF2-40B4-BE49-F238E27FC236}">
                <a16:creationId xmlns:a16="http://schemas.microsoft.com/office/drawing/2014/main" id="{899202DC-B250-103B-B9CA-7AB11AFD7DD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904734" y="4576277"/>
            <a:ext cx="1714557" cy="169200"/>
          </a:xfrm>
          <a:prstGeom prst="homePlate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noProof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2" name="Text Box 7">
            <a:extLst>
              <a:ext uri="{FF2B5EF4-FFF2-40B4-BE49-F238E27FC236}">
                <a16:creationId xmlns:a16="http://schemas.microsoft.com/office/drawing/2014/main" id="{0D3BB66F-97A2-D26D-C030-7B4E3F95BBD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0619291" y="4902669"/>
            <a:ext cx="790935" cy="167462"/>
          </a:xfrm>
          <a:prstGeom prst="homePlate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noProof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30BAD80-5D15-51F5-18BE-B6B733A363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23722DBF-E2E5-4732-39F5-46A35D5D04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8000" y="5276551"/>
            <a:ext cx="252000" cy="252000"/>
          </a:xfrm>
          <a:prstGeom prst="rect">
            <a:avLst/>
          </a:prstGeom>
        </p:spPr>
      </p:pic>
      <p:pic>
        <p:nvPicPr>
          <p:cNvPr id="14" name="Graphic 13" descr="Badge Cross with solid fill">
            <a:extLst>
              <a:ext uri="{FF2B5EF4-FFF2-40B4-BE49-F238E27FC236}">
                <a16:creationId xmlns:a16="http://schemas.microsoft.com/office/drawing/2014/main" id="{0DC00956-2CC3-E948-F1D8-72E5C7BFAC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85264" y="5276551"/>
            <a:ext cx="252000" cy="252000"/>
          </a:xfrm>
          <a:prstGeom prst="rect">
            <a:avLst/>
          </a:prstGeom>
        </p:spPr>
      </p:pic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2233A949-2118-F20E-E5DE-8F6342AAA05A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2285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B790F-734B-8B3C-126E-17007772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62AFA745-109E-8375-096D-CDC4CFFA154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61" imgH="264" progId="TCLayout.ActiveDocument.1">
                  <p:embed/>
                </p:oleObj>
              </mc:Choice>
              <mc:Fallback>
                <p:oleObj name="think-cell Slide" r:id="rId4" imgW="261" imgH="26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AFA745-109E-8375-096D-CDC4CFFA15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58CE46E7-DA9B-5169-6F4B-04927546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US" dirty="0"/>
              <a:t>Project charter for Project [insert name]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09854007-A618-A737-53E6-858B119A9845}"/>
              </a:ext>
            </a:extLst>
          </p:cNvPr>
          <p:cNvCxnSpPr>
            <a:cxnSpLocks/>
          </p:cNvCxnSpPr>
          <p:nvPr/>
        </p:nvCxnSpPr>
        <p:spPr>
          <a:xfrm>
            <a:off x="7975632" y="1712221"/>
            <a:ext cx="0" cy="4498079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E47D60C-085A-4374-23B0-05636F5684FD}"/>
              </a:ext>
            </a:extLst>
          </p:cNvPr>
          <p:cNvSpPr/>
          <p:nvPr/>
        </p:nvSpPr>
        <p:spPr>
          <a:xfrm>
            <a:off x="554737" y="2151523"/>
            <a:ext cx="3564000" cy="1746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short description of background and context of project]</a:t>
            </a:r>
          </a:p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short description of background and context of project]</a:t>
            </a:r>
          </a:p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short description of background and context of project]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AADB2A-71DC-7EAE-E393-D2E0B3419AE5}"/>
              </a:ext>
            </a:extLst>
          </p:cNvPr>
          <p:cNvSpPr/>
          <p:nvPr/>
        </p:nvSpPr>
        <p:spPr>
          <a:xfrm>
            <a:off x="554736" y="1712221"/>
            <a:ext cx="3564000" cy="396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Background and context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A269D0-55C2-6602-578D-5300AE76C04E}"/>
              </a:ext>
            </a:extLst>
          </p:cNvPr>
          <p:cNvSpPr/>
          <p:nvPr/>
        </p:nvSpPr>
        <p:spPr>
          <a:xfrm>
            <a:off x="554737" y="4514183"/>
            <a:ext cx="3564000" cy="1746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high-level overview of approach in terms of methodology, timeline etc.]</a:t>
            </a:r>
          </a:p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high-level overview of approach in terms of methodology, timeline etc.]</a:t>
            </a:r>
          </a:p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high-level overview of approach in terms of methodology, timeline etc.]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711935-13C0-8699-31BF-42A00D9FC073}"/>
              </a:ext>
            </a:extLst>
          </p:cNvPr>
          <p:cNvSpPr/>
          <p:nvPr/>
        </p:nvSpPr>
        <p:spPr>
          <a:xfrm>
            <a:off x="554737" y="4065049"/>
            <a:ext cx="3564000" cy="396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kumimoji="0" lang="en-AU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Approach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5FA571-BCAA-BC07-D535-D5CFD362BE36}"/>
              </a:ext>
            </a:extLst>
          </p:cNvPr>
          <p:cNvSpPr/>
          <p:nvPr/>
        </p:nvSpPr>
        <p:spPr>
          <a:xfrm>
            <a:off x="4314001" y="2151523"/>
            <a:ext cx="3564000" cy="1746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project goal / objective]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project goal / objective]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project goal / objective]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8E5B95-599A-9477-0FC3-CFED393B6825}"/>
              </a:ext>
            </a:extLst>
          </p:cNvPr>
          <p:cNvSpPr/>
          <p:nvPr/>
        </p:nvSpPr>
        <p:spPr>
          <a:xfrm>
            <a:off x="4314000" y="1712221"/>
            <a:ext cx="3564000" cy="396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kumimoji="0" lang="en-AU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Goals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4CB6E0-4451-FC23-0E94-F40B5059FC20}"/>
              </a:ext>
            </a:extLst>
          </p:cNvPr>
          <p:cNvSpPr/>
          <p:nvPr/>
        </p:nvSpPr>
        <p:spPr>
          <a:xfrm>
            <a:off x="4314001" y="4514183"/>
            <a:ext cx="3564000" cy="17463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any potential challenges and risks that you are aware of in terms of successful completion]</a:t>
            </a:r>
          </a:p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any potential challenges and risks that you are aware of in terms of successful completion]</a:t>
            </a:r>
          </a:p>
          <a:p>
            <a:pPr marL="216000" marR="0" lvl="0" indent="-216000" algn="l" defTabSz="914400" rtl="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0751B2-6018-002F-51F2-4DEA5D545A91}"/>
              </a:ext>
            </a:extLst>
          </p:cNvPr>
          <p:cNvSpPr/>
          <p:nvPr/>
        </p:nvSpPr>
        <p:spPr>
          <a:xfrm>
            <a:off x="4314001" y="4065049"/>
            <a:ext cx="3564000" cy="396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kumimoji="0" lang="en-AU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Potential challenges and risks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24729F-C0B3-AE51-9C0F-98B42EC2F7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77FF92-89D2-3495-4B02-B6958863DD2F}"/>
              </a:ext>
            </a:extLst>
          </p:cNvPr>
          <p:cNvSpPr/>
          <p:nvPr/>
        </p:nvSpPr>
        <p:spPr>
          <a:xfrm>
            <a:off x="8073264" y="1712221"/>
            <a:ext cx="3564000" cy="3960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kumimoji="0" lang="en-AU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Outcomes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3EE386-A744-13D8-03EE-5196B86748B6}"/>
              </a:ext>
            </a:extLst>
          </p:cNvPr>
          <p:cNvSpPr/>
          <p:nvPr/>
        </p:nvSpPr>
        <p:spPr>
          <a:xfrm>
            <a:off x="8073264" y="2151523"/>
            <a:ext cx="3564000" cy="410903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[Insert expected outcomes and deliverables from project], </a:t>
            </a:r>
            <a:r>
              <a:rPr lang="en-US" sz="1200" b="1" dirty="0">
                <a:solidFill>
                  <a:srgbClr val="00B050"/>
                </a:solidFill>
              </a:rPr>
              <a:t>completed</a:t>
            </a:r>
          </a:p>
          <a:p>
            <a:pPr marL="228600" indent="-228600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1200" dirty="0">
                <a:solidFill>
                  <a:schemeClr val="tx1"/>
                </a:solidFill>
              </a:rPr>
              <a:t>[Insert expected outcomes and deliverables from project], </a:t>
            </a:r>
            <a:r>
              <a:rPr lang="en-US" sz="1200" b="1" dirty="0">
                <a:solidFill>
                  <a:schemeClr val="accent6"/>
                </a:solidFill>
              </a:rPr>
              <a:t>in progress</a:t>
            </a:r>
          </a:p>
          <a:p>
            <a:pPr marL="228600" indent="-228600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1200" dirty="0">
                <a:solidFill>
                  <a:schemeClr val="tx1"/>
                </a:solidFill>
              </a:rPr>
              <a:t>[Insert expected outcomes and deliverables from project],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not started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135B3B65-266A-655D-1F26-6D97A9DE6C82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0824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CE65E-349B-CA73-CA82-19E08C6D7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3E4E500F-A583-CA21-6BB8-30DD3585984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61" imgH="264" progId="TCLayout.ActiveDocument.1">
                  <p:embed/>
                </p:oleObj>
              </mc:Choice>
              <mc:Fallback>
                <p:oleObj name="think-cell Slide" r:id="rId4" imgW="261" imgH="26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E500F-A583-CA21-6BB8-30DD358598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177732DB-2D3A-99B6-256F-F0F5B06CB0C6}"/>
              </a:ext>
            </a:extLst>
          </p:cNvPr>
          <p:cNvSpPr txBox="1"/>
          <p:nvPr/>
        </p:nvSpPr>
        <p:spPr>
          <a:xfrm>
            <a:off x="6191253" y="5224803"/>
            <a:ext cx="5438964" cy="98549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200" b="1" dirty="0"/>
              <a:t>Financials,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[unit]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2E5E29-D094-09C0-7019-A460F1F74A56}"/>
              </a:ext>
            </a:extLst>
          </p:cNvPr>
          <p:cNvSpPr txBox="1"/>
          <p:nvPr/>
        </p:nvSpPr>
        <p:spPr>
          <a:xfrm>
            <a:off x="547687" y="4847972"/>
            <a:ext cx="5511787" cy="135895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200" b="1" dirty="0"/>
              <a:t>Schedule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282AA3-0D8C-CABF-456E-2826DC4E9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Project status report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411B2F4C-1154-8A40-2854-FE3D52736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570864"/>
              </p:ext>
            </p:extLst>
          </p:nvPr>
        </p:nvGraphicFramePr>
        <p:xfrm>
          <a:off x="6281492" y="5558888"/>
          <a:ext cx="5247464" cy="44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1866">
                  <a:extLst>
                    <a:ext uri="{9D8B030D-6E8A-4147-A177-3AD203B41FA5}">
                      <a16:colId xmlns:a16="http://schemas.microsoft.com/office/drawing/2014/main" val="855813881"/>
                    </a:ext>
                  </a:extLst>
                </a:gridCol>
                <a:gridCol w="1311866">
                  <a:extLst>
                    <a:ext uri="{9D8B030D-6E8A-4147-A177-3AD203B41FA5}">
                      <a16:colId xmlns:a16="http://schemas.microsoft.com/office/drawing/2014/main" val="846615772"/>
                    </a:ext>
                  </a:extLst>
                </a:gridCol>
                <a:gridCol w="1311866">
                  <a:extLst>
                    <a:ext uri="{9D8B030D-6E8A-4147-A177-3AD203B41FA5}">
                      <a16:colId xmlns:a16="http://schemas.microsoft.com/office/drawing/2014/main" val="3663014576"/>
                    </a:ext>
                  </a:extLst>
                </a:gridCol>
                <a:gridCol w="1311866">
                  <a:extLst>
                    <a:ext uri="{9D8B030D-6E8A-4147-A177-3AD203B41FA5}">
                      <a16:colId xmlns:a16="http://schemas.microsoft.com/office/drawing/2014/main" val="2346432379"/>
                    </a:ext>
                  </a:extLst>
                </a:gridCol>
              </a:tblGrid>
              <a:tr h="144276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Budget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AC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EAC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Delta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432158"/>
                  </a:ext>
                </a:extLst>
              </a:tr>
              <a:tr h="14427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+20</a:t>
                      </a: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31531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1C7428B5-9EE8-11F6-A0A0-AE1C25473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31645"/>
              </p:ext>
            </p:extLst>
          </p:nvPr>
        </p:nvGraphicFramePr>
        <p:xfrm>
          <a:off x="663044" y="5203111"/>
          <a:ext cx="5328175" cy="9206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6631">
                  <a:extLst>
                    <a:ext uri="{9D8B030D-6E8A-4147-A177-3AD203B41FA5}">
                      <a16:colId xmlns:a16="http://schemas.microsoft.com/office/drawing/2014/main" val="855813881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846615772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3663014576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398805075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346432379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380657661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400316556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483118856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64944557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368559493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3767597510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3963559502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1305883050"/>
                    </a:ext>
                  </a:extLst>
                </a:gridCol>
              </a:tblGrid>
              <a:tr h="306894"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576" marR="36576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Jan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Feb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Mar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Apr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May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Jun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Jul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Aug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Sep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Oct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Nov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Dec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432158"/>
                  </a:ext>
                </a:extLst>
              </a:tr>
              <a:tr h="30689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Plan</a:t>
                      </a:r>
                    </a:p>
                  </a:txBody>
                  <a:tcPr marL="36576" marR="36576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31531"/>
                  </a:ext>
                </a:extLst>
              </a:tr>
              <a:tr h="30689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Actual</a:t>
                      </a:r>
                    </a:p>
                  </a:txBody>
                  <a:tcPr marL="36576" marR="36576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04593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7DC9A99B-709C-4EDC-DE7E-C70D1EA19185}"/>
              </a:ext>
            </a:extLst>
          </p:cNvPr>
          <p:cNvSpPr txBox="1"/>
          <p:nvPr/>
        </p:nvSpPr>
        <p:spPr>
          <a:xfrm>
            <a:off x="540243" y="2772187"/>
            <a:ext cx="5519232" cy="19636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Deliverables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FD9767-932F-302C-B680-711C146BF042}"/>
              </a:ext>
            </a:extLst>
          </p:cNvPr>
          <p:cNvSpPr txBox="1"/>
          <p:nvPr/>
        </p:nvSpPr>
        <p:spPr>
          <a:xfrm>
            <a:off x="6191253" y="2772187"/>
            <a:ext cx="5446012" cy="107142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en-US" sz="1200" b="1" dirty="0"/>
              <a:t>Risks and issues</a:t>
            </a:r>
            <a:endParaRPr lang="en-US" sz="1200" dirty="0"/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any risks or issues that need attention or to be kept an eye on]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any risks or issues that need attention or to be kept an eye on]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84CBD1-91FE-DCA9-281E-E33090BEB159}"/>
              </a:ext>
            </a:extLst>
          </p:cNvPr>
          <p:cNvSpPr txBox="1"/>
          <p:nvPr/>
        </p:nvSpPr>
        <p:spPr>
          <a:xfrm>
            <a:off x="6191253" y="3998495"/>
            <a:ext cx="5446012" cy="107142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en-US" sz="1200" b="1" dirty="0"/>
              <a:t>Changes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any changes to project scope, deliverables etc.]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any changes to project scope, deliverables etc.]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…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4711E1-3A8C-B1ED-DB6D-AF9071A425F4}"/>
              </a:ext>
            </a:extLst>
          </p:cNvPr>
          <p:cNvSpPr txBox="1"/>
          <p:nvPr/>
        </p:nvSpPr>
        <p:spPr>
          <a:xfrm>
            <a:off x="2552437" y="1359056"/>
            <a:ext cx="4641172" cy="130101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200" b="1" dirty="0"/>
              <a:t>Key activities this week</a:t>
            </a:r>
          </a:p>
          <a:p>
            <a:pPr marL="216000" indent="-216000" defTabSz="91440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key activities]</a:t>
            </a:r>
          </a:p>
          <a:p>
            <a:pPr marL="216000" indent="-216000" defTabSz="91440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key activities]</a:t>
            </a:r>
          </a:p>
          <a:p>
            <a:pPr marL="216000" indent="-216000" defTabSz="91440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…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667214-1F09-B23A-9EDC-1F456CF7F55C}"/>
              </a:ext>
            </a:extLst>
          </p:cNvPr>
          <p:cNvSpPr txBox="1"/>
          <p:nvPr/>
        </p:nvSpPr>
        <p:spPr>
          <a:xfrm>
            <a:off x="7335810" y="1356190"/>
            <a:ext cx="4294406" cy="130101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200" b="1" dirty="0"/>
              <a:t>Decisions and/or actions required by management</a:t>
            </a:r>
            <a:endParaRPr lang="en-US" sz="1200" dirty="0"/>
          </a:p>
          <a:p>
            <a:pPr marL="216000" indent="-216000" defTabSz="91440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any item that needs management attention]</a:t>
            </a:r>
          </a:p>
          <a:p>
            <a:pPr marL="216000" indent="-216000" defTabSz="91440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any item that needs management attention]</a:t>
            </a:r>
          </a:p>
          <a:p>
            <a:pPr marL="216000" indent="-216000" defTabSz="91440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7241CB-A694-3F5E-9A49-E175AC922C3E}"/>
              </a:ext>
            </a:extLst>
          </p:cNvPr>
          <p:cNvSpPr txBox="1"/>
          <p:nvPr/>
        </p:nvSpPr>
        <p:spPr>
          <a:xfrm>
            <a:off x="540243" y="1359056"/>
            <a:ext cx="1862547" cy="130101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Status overview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DB800AF-5385-2D04-97A0-2AC0B68ED877}"/>
              </a:ext>
            </a:extLst>
          </p:cNvPr>
          <p:cNvSpPr/>
          <p:nvPr/>
        </p:nvSpPr>
        <p:spPr>
          <a:xfrm>
            <a:off x="663044" y="2329551"/>
            <a:ext cx="793567" cy="227645"/>
          </a:xfrm>
          <a:prstGeom prst="roundRect">
            <a:avLst/>
          </a:prstGeom>
          <a:solidFill>
            <a:srgbClr val="99E6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Scope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19F11EA-9FF9-6793-0CEB-9E57F16B7F32}"/>
              </a:ext>
            </a:extLst>
          </p:cNvPr>
          <p:cNvSpPr/>
          <p:nvPr/>
        </p:nvSpPr>
        <p:spPr>
          <a:xfrm>
            <a:off x="663044" y="1748095"/>
            <a:ext cx="1640319" cy="227645"/>
          </a:xfrm>
          <a:prstGeom prst="roundRect">
            <a:avLst/>
          </a:prstGeom>
          <a:solidFill>
            <a:srgbClr val="99E6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Overall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62BDB7B-B057-9EC9-3FD3-506ECAF2D22B}"/>
              </a:ext>
            </a:extLst>
          </p:cNvPr>
          <p:cNvSpPr/>
          <p:nvPr/>
        </p:nvSpPr>
        <p:spPr>
          <a:xfrm>
            <a:off x="663044" y="2034923"/>
            <a:ext cx="793567" cy="227645"/>
          </a:xfrm>
          <a:prstGeom prst="roundRect">
            <a:avLst/>
          </a:prstGeom>
          <a:solidFill>
            <a:srgbClr val="99E6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Schedule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961757D-D0CB-F612-2602-A070C66E0E4B}"/>
              </a:ext>
            </a:extLst>
          </p:cNvPr>
          <p:cNvSpPr/>
          <p:nvPr/>
        </p:nvSpPr>
        <p:spPr>
          <a:xfrm>
            <a:off x="1509796" y="2034923"/>
            <a:ext cx="793567" cy="227645"/>
          </a:xfrm>
          <a:prstGeom prst="roundRect">
            <a:avLst/>
          </a:prstGeom>
          <a:solidFill>
            <a:srgbClr val="F0AC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Resources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45905FEE-C439-FB39-64A7-023F43696E29}"/>
              </a:ext>
            </a:extLst>
          </p:cNvPr>
          <p:cNvSpPr/>
          <p:nvPr/>
        </p:nvSpPr>
        <p:spPr>
          <a:xfrm>
            <a:off x="1509796" y="2328984"/>
            <a:ext cx="793567" cy="2276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Budget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3D20C3E-484C-AAFB-51EA-4464534D02D8}"/>
              </a:ext>
            </a:extLst>
          </p:cNvPr>
          <p:cNvGrpSpPr/>
          <p:nvPr/>
        </p:nvGrpSpPr>
        <p:grpSpPr>
          <a:xfrm>
            <a:off x="1218884" y="5586419"/>
            <a:ext cx="3615394" cy="167462"/>
            <a:chOff x="-338896" y="294177"/>
            <a:chExt cx="10871246" cy="591829"/>
          </a:xfrm>
          <a:solidFill>
            <a:schemeClr val="accent2"/>
          </a:solidFill>
        </p:grpSpPr>
        <p:sp>
          <p:nvSpPr>
            <p:cNvPr id="65" name="Text Box 6">
              <a:extLst>
                <a:ext uri="{FF2B5EF4-FFF2-40B4-BE49-F238E27FC236}">
                  <a16:creationId xmlns:a16="http://schemas.microsoft.com/office/drawing/2014/main" id="{3E80F968-7B26-68DC-B387-984677E8A84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-338896" y="294177"/>
              <a:ext cx="2287730" cy="591829"/>
            </a:xfrm>
            <a:prstGeom prst="homePlate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000" noProof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6" name="Text Box 7">
              <a:extLst>
                <a:ext uri="{FF2B5EF4-FFF2-40B4-BE49-F238E27FC236}">
                  <a16:creationId xmlns:a16="http://schemas.microsoft.com/office/drawing/2014/main" id="{38AEE8C5-02AE-4AD9-4C78-67631892083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06983" y="294177"/>
              <a:ext cx="2287730" cy="591829"/>
            </a:xfrm>
            <a:prstGeom prst="chevron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000" noProof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7" name="Text Box 7">
              <a:extLst>
                <a:ext uri="{FF2B5EF4-FFF2-40B4-BE49-F238E27FC236}">
                  <a16:creationId xmlns:a16="http://schemas.microsoft.com/office/drawing/2014/main" id="{7DCE7C15-B48E-9B24-36C2-E3A7EE75EDF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952862" y="294177"/>
              <a:ext cx="2287730" cy="591829"/>
            </a:xfrm>
            <a:prstGeom prst="chevron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000" noProof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68" name="Text Box 7">
              <a:extLst>
                <a:ext uri="{FF2B5EF4-FFF2-40B4-BE49-F238E27FC236}">
                  <a16:creationId xmlns:a16="http://schemas.microsoft.com/office/drawing/2014/main" id="{FF4BF3F5-007D-3F29-ACA6-EFC011358B8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6098741" y="294177"/>
              <a:ext cx="2287730" cy="591829"/>
            </a:xfrm>
            <a:prstGeom prst="chevron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000" noProof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69" name="Text Box 7">
              <a:extLst>
                <a:ext uri="{FF2B5EF4-FFF2-40B4-BE49-F238E27FC236}">
                  <a16:creationId xmlns:a16="http://schemas.microsoft.com/office/drawing/2014/main" id="{EEEA0D14-CBEC-D63C-2AE6-2968A97B339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8244620" y="294177"/>
              <a:ext cx="2287730" cy="591829"/>
            </a:xfrm>
            <a:prstGeom prst="chevron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000" noProof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F59C49B-4DEA-2F98-252E-78989C748264}"/>
              </a:ext>
            </a:extLst>
          </p:cNvPr>
          <p:cNvGrpSpPr/>
          <p:nvPr/>
        </p:nvGrpSpPr>
        <p:grpSpPr>
          <a:xfrm>
            <a:off x="2144278" y="5891660"/>
            <a:ext cx="3615394" cy="167462"/>
            <a:chOff x="-338896" y="294177"/>
            <a:chExt cx="10871246" cy="591829"/>
          </a:xfrm>
          <a:solidFill>
            <a:schemeClr val="accent2"/>
          </a:solidFill>
        </p:grpSpPr>
        <p:sp>
          <p:nvSpPr>
            <p:cNvPr id="71" name="Text Box 6">
              <a:extLst>
                <a:ext uri="{FF2B5EF4-FFF2-40B4-BE49-F238E27FC236}">
                  <a16:creationId xmlns:a16="http://schemas.microsoft.com/office/drawing/2014/main" id="{D8886704-01E0-8ED3-7FBF-8540CE9640C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-338896" y="294177"/>
              <a:ext cx="2287730" cy="591829"/>
            </a:xfrm>
            <a:prstGeom prst="homePlate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000" noProof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2" name="Text Box 7">
              <a:extLst>
                <a:ext uri="{FF2B5EF4-FFF2-40B4-BE49-F238E27FC236}">
                  <a16:creationId xmlns:a16="http://schemas.microsoft.com/office/drawing/2014/main" id="{083A2FDC-B58C-8424-7D15-8D0AB0B3A89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06983" y="294177"/>
              <a:ext cx="2287730" cy="591829"/>
            </a:xfrm>
            <a:prstGeom prst="chevron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000" noProof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3" name="Text Box 7">
              <a:extLst>
                <a:ext uri="{FF2B5EF4-FFF2-40B4-BE49-F238E27FC236}">
                  <a16:creationId xmlns:a16="http://schemas.microsoft.com/office/drawing/2014/main" id="{FF3A4D32-3ABB-0B9A-0A4D-01074F40ECB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952862" y="294177"/>
              <a:ext cx="2287730" cy="591829"/>
            </a:xfrm>
            <a:prstGeom prst="chevron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000" noProof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74" name="Text Box 7">
              <a:extLst>
                <a:ext uri="{FF2B5EF4-FFF2-40B4-BE49-F238E27FC236}">
                  <a16:creationId xmlns:a16="http://schemas.microsoft.com/office/drawing/2014/main" id="{A8A6791C-3517-CD77-EA26-2DB306A5657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6098741" y="294177"/>
              <a:ext cx="2287730" cy="591829"/>
            </a:xfrm>
            <a:prstGeom prst="chevron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000" noProof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75" name="Text Box 7">
              <a:extLst>
                <a:ext uri="{FF2B5EF4-FFF2-40B4-BE49-F238E27FC236}">
                  <a16:creationId xmlns:a16="http://schemas.microsoft.com/office/drawing/2014/main" id="{F0739E0D-B4FD-62B2-9BFB-C6C696A8936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8244620" y="294177"/>
              <a:ext cx="2287730" cy="591829"/>
            </a:xfrm>
            <a:prstGeom prst="chevron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000" noProof="1">
                  <a:solidFill>
                    <a:schemeClr val="bg1"/>
                  </a:solidFill>
                </a:rPr>
                <a:t>5</a:t>
              </a:r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0288805-4C8C-C85C-276F-684EC630812A}"/>
              </a:ext>
            </a:extLst>
          </p:cNvPr>
          <p:cNvCxnSpPr>
            <a:cxnSpLocks/>
          </p:cNvCxnSpPr>
          <p:nvPr/>
        </p:nvCxnSpPr>
        <p:spPr>
          <a:xfrm flipH="1">
            <a:off x="2794635" y="5163321"/>
            <a:ext cx="0" cy="972000"/>
          </a:xfrm>
          <a:prstGeom prst="line">
            <a:avLst/>
          </a:prstGeom>
          <a:ln w="381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5684C19-7DB0-AC05-C32D-468640D6F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144688"/>
              </p:ext>
            </p:extLst>
          </p:nvPr>
        </p:nvGraphicFramePr>
        <p:xfrm>
          <a:off x="663044" y="3110546"/>
          <a:ext cx="5328180" cy="150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9790">
                  <a:extLst>
                    <a:ext uri="{9D8B030D-6E8A-4147-A177-3AD203B41FA5}">
                      <a16:colId xmlns:a16="http://schemas.microsoft.com/office/drawing/2014/main" val="855813881"/>
                    </a:ext>
                  </a:extLst>
                </a:gridCol>
                <a:gridCol w="1073849">
                  <a:extLst>
                    <a:ext uri="{9D8B030D-6E8A-4147-A177-3AD203B41FA5}">
                      <a16:colId xmlns:a16="http://schemas.microsoft.com/office/drawing/2014/main" val="846615772"/>
                    </a:ext>
                  </a:extLst>
                </a:gridCol>
                <a:gridCol w="730381">
                  <a:extLst>
                    <a:ext uri="{9D8B030D-6E8A-4147-A177-3AD203B41FA5}">
                      <a16:colId xmlns:a16="http://schemas.microsoft.com/office/drawing/2014/main" val="3663014576"/>
                    </a:ext>
                  </a:extLst>
                </a:gridCol>
                <a:gridCol w="894160">
                  <a:extLst>
                    <a:ext uri="{9D8B030D-6E8A-4147-A177-3AD203B41FA5}">
                      <a16:colId xmlns:a16="http://schemas.microsoft.com/office/drawing/2014/main" val="3988050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Due date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Owner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432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[Insert deliverable]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[Insert date]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xx%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[Insert name]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31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deliverable]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[Insert date]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xx%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name]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480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deliverable]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[Insert date]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xx%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name]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759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deliverable]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[Insert date]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xx%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name]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50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deliverable]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[Insert date]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xx%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name]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04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deliverable]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[Insert date]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xx%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name]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923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deliverable]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[Insert date]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xx%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name]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385534"/>
                  </a:ext>
                </a:extLst>
              </a:tr>
            </a:tbl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D0004-E9EC-E51C-A8B0-AAE15FD4FC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9C851E-176D-56A0-D9D8-CF1B0E4F2900}"/>
              </a:ext>
            </a:extLst>
          </p:cNvPr>
          <p:cNvSpPr txBox="1"/>
          <p:nvPr/>
        </p:nvSpPr>
        <p:spPr>
          <a:xfrm>
            <a:off x="2468063" y="4925393"/>
            <a:ext cx="653143" cy="20029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b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6"/>
                </a:solidFill>
              </a:rPr>
              <a:t>Today</a:t>
            </a:r>
          </a:p>
        </p:txBody>
      </p:sp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922DA637-BBFE-CEF9-C67C-F39DBEA79654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B341C6-9481-3A16-81BA-C121290072BC}"/>
              </a:ext>
            </a:extLst>
          </p:cNvPr>
          <p:cNvGrpSpPr/>
          <p:nvPr/>
        </p:nvGrpSpPr>
        <p:grpSpPr>
          <a:xfrm>
            <a:off x="9366272" y="882356"/>
            <a:ext cx="2390116" cy="365125"/>
            <a:chOff x="467806" y="6127919"/>
            <a:chExt cx="2390116" cy="365125"/>
          </a:xfrm>
        </p:grpSpPr>
        <p:sp>
          <p:nvSpPr>
            <p:cNvPr id="5" name="Google Shape;538;p14">
              <a:extLst>
                <a:ext uri="{FF2B5EF4-FFF2-40B4-BE49-F238E27FC236}">
                  <a16:creationId xmlns:a16="http://schemas.microsoft.com/office/drawing/2014/main" id="{E2CD67B1-FC92-2A96-B27E-79772B7CE0C0}"/>
                </a:ext>
              </a:extLst>
            </p:cNvPr>
            <p:cNvSpPr txBox="1"/>
            <p:nvPr/>
          </p:nvSpPr>
          <p:spPr>
            <a:xfrm>
              <a:off x="467806" y="6127919"/>
              <a:ext cx="2390116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Legend: </a:t>
              </a:r>
              <a:endParaRPr sz="900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Rectangle: Rounded Corners 52">
              <a:extLst>
                <a:ext uri="{FF2B5EF4-FFF2-40B4-BE49-F238E27FC236}">
                  <a16:creationId xmlns:a16="http://schemas.microsoft.com/office/drawing/2014/main" id="{4C0B6063-616F-27F0-84AD-1131C52605DF}"/>
                </a:ext>
              </a:extLst>
            </p:cNvPr>
            <p:cNvSpPr/>
            <p:nvPr/>
          </p:nvSpPr>
          <p:spPr>
            <a:xfrm>
              <a:off x="2201455" y="6229028"/>
              <a:ext cx="532800" cy="162907"/>
            </a:xfrm>
            <a:prstGeom prst="roundRect">
              <a:avLst/>
            </a:prstGeom>
            <a:solidFill>
              <a:srgbClr val="99E6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On track</a:t>
              </a:r>
            </a:p>
          </p:txBody>
        </p:sp>
        <p:sp>
          <p:nvSpPr>
            <p:cNvPr id="7" name="Rectangle: Rounded Corners 55">
              <a:extLst>
                <a:ext uri="{FF2B5EF4-FFF2-40B4-BE49-F238E27FC236}">
                  <a16:creationId xmlns:a16="http://schemas.microsoft.com/office/drawing/2014/main" id="{680EE903-8F9F-0B57-0998-74FC620F6C83}"/>
                </a:ext>
              </a:extLst>
            </p:cNvPr>
            <p:cNvSpPr/>
            <p:nvPr/>
          </p:nvSpPr>
          <p:spPr>
            <a:xfrm>
              <a:off x="1045391" y="6229028"/>
              <a:ext cx="533154" cy="162907"/>
            </a:xfrm>
            <a:prstGeom prst="roundRect">
              <a:avLst/>
            </a:prstGeom>
            <a:solidFill>
              <a:srgbClr val="F0AC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Critical</a:t>
              </a:r>
            </a:p>
          </p:txBody>
        </p:sp>
        <p:sp>
          <p:nvSpPr>
            <p:cNvPr id="10" name="Rectangle: Rounded Corners 62">
              <a:extLst>
                <a:ext uri="{FF2B5EF4-FFF2-40B4-BE49-F238E27FC236}">
                  <a16:creationId xmlns:a16="http://schemas.microsoft.com/office/drawing/2014/main" id="{1633B11F-B88F-835F-5550-B729D4172F5E}"/>
                </a:ext>
              </a:extLst>
            </p:cNvPr>
            <p:cNvSpPr/>
            <p:nvPr/>
          </p:nvSpPr>
          <p:spPr>
            <a:xfrm>
              <a:off x="1623516" y="6229028"/>
              <a:ext cx="532800" cy="16290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At risk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2709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FBF6084-F1D2-2F4A-E006-9332D744536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FBF6084-F1D2-2F4A-E006-9332D74453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13D88E5-621B-3F18-A969-874E1CADA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US" dirty="0"/>
              <a:t>Status update [Insert date]: [Insert project name]</a:t>
            </a:r>
          </a:p>
        </p:txBody>
      </p:sp>
      <p:sp>
        <p:nvSpPr>
          <p:cNvPr id="14" name="TextBox 24">
            <a:extLst>
              <a:ext uri="{FF2B5EF4-FFF2-40B4-BE49-F238E27FC236}">
                <a16:creationId xmlns:a16="http://schemas.microsoft.com/office/drawing/2014/main" id="{608B550B-E21D-50F0-5F1C-F824986801D7}"/>
              </a:ext>
            </a:extLst>
          </p:cNvPr>
          <p:cNvSpPr txBox="1"/>
          <p:nvPr/>
        </p:nvSpPr>
        <p:spPr>
          <a:xfrm>
            <a:off x="945679" y="2992147"/>
            <a:ext cx="2121372" cy="2933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b="1" dirty="0"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Initiative</a:t>
            </a:r>
          </a:p>
        </p:txBody>
      </p:sp>
      <p:cxnSp>
        <p:nvCxnSpPr>
          <p:cNvPr id="15" name="Conector recto 9">
            <a:extLst>
              <a:ext uri="{FF2B5EF4-FFF2-40B4-BE49-F238E27FC236}">
                <a16:creationId xmlns:a16="http://schemas.microsoft.com/office/drawing/2014/main" id="{67884C14-986D-CD96-F068-A9240BE30B33}"/>
              </a:ext>
            </a:extLst>
          </p:cNvPr>
          <p:cNvCxnSpPr>
            <a:cxnSpLocks/>
          </p:cNvCxnSpPr>
          <p:nvPr/>
        </p:nvCxnSpPr>
        <p:spPr>
          <a:xfrm>
            <a:off x="945678" y="3285527"/>
            <a:ext cx="208060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24">
            <a:extLst>
              <a:ext uri="{FF2B5EF4-FFF2-40B4-BE49-F238E27FC236}">
                <a16:creationId xmlns:a16="http://schemas.microsoft.com/office/drawing/2014/main" id="{35C6854C-7E51-2481-3FE8-FA69BD7F04E8}"/>
              </a:ext>
            </a:extLst>
          </p:cNvPr>
          <p:cNvSpPr txBox="1"/>
          <p:nvPr/>
        </p:nvSpPr>
        <p:spPr>
          <a:xfrm>
            <a:off x="3542693" y="2992147"/>
            <a:ext cx="2554149" cy="2933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b="1" dirty="0"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Update</a:t>
            </a:r>
          </a:p>
        </p:txBody>
      </p:sp>
      <p:cxnSp>
        <p:nvCxnSpPr>
          <p:cNvPr id="19" name="Conector recto 9">
            <a:extLst>
              <a:ext uri="{FF2B5EF4-FFF2-40B4-BE49-F238E27FC236}">
                <a16:creationId xmlns:a16="http://schemas.microsoft.com/office/drawing/2014/main" id="{18A8C93E-E1F6-A30A-594A-84020536E991}"/>
              </a:ext>
            </a:extLst>
          </p:cNvPr>
          <p:cNvCxnSpPr>
            <a:cxnSpLocks/>
          </p:cNvCxnSpPr>
          <p:nvPr/>
        </p:nvCxnSpPr>
        <p:spPr>
          <a:xfrm>
            <a:off x="3542693" y="3285527"/>
            <a:ext cx="718245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8">
            <a:extLst>
              <a:ext uri="{FF2B5EF4-FFF2-40B4-BE49-F238E27FC236}">
                <a16:creationId xmlns:a16="http://schemas.microsoft.com/office/drawing/2014/main" id="{D7E9D6FB-7969-5C41-4023-BE6A78EFCD4F}"/>
              </a:ext>
            </a:extLst>
          </p:cNvPr>
          <p:cNvSpPr/>
          <p:nvPr/>
        </p:nvSpPr>
        <p:spPr>
          <a:xfrm>
            <a:off x="554736" y="3475102"/>
            <a:ext cx="343160" cy="34316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46800" rIns="0" rtlCol="0" anchor="ctr" anchorCtr="0"/>
          <a:lstStyle/>
          <a:p>
            <a:pPr marL="0" marR="0" lvl="0" indent="0" algn="ctr" defTabSz="9142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1</a:t>
            </a:r>
          </a:p>
        </p:txBody>
      </p:sp>
      <p:sp>
        <p:nvSpPr>
          <p:cNvPr id="27" name="TextBox 53">
            <a:extLst>
              <a:ext uri="{FF2B5EF4-FFF2-40B4-BE49-F238E27FC236}">
                <a16:creationId xmlns:a16="http://schemas.microsoft.com/office/drawing/2014/main" id="{54ED6AA5-7C6F-9429-715A-D9A4BF86AA6C}"/>
              </a:ext>
            </a:extLst>
          </p:cNvPr>
          <p:cNvSpPr txBox="1"/>
          <p:nvPr/>
        </p:nvSpPr>
        <p:spPr>
          <a:xfrm>
            <a:off x="988545" y="3492972"/>
            <a:ext cx="2037740" cy="307420"/>
          </a:xfrm>
          <a:prstGeom prst="rect">
            <a:avLst/>
          </a:prstGeom>
          <a:noFill/>
          <a:ln>
            <a:noFill/>
          </a:ln>
        </p:spPr>
        <p:txBody>
          <a:bodyPr wrap="square" lIns="0" tIns="108000" rIns="108000" bIns="72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dirty="0"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[</a:t>
            </a:r>
            <a:r>
              <a:rPr kumimoji="0" lang="en-GB" sz="12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Insert initiative]</a:t>
            </a:r>
          </a:p>
        </p:txBody>
      </p:sp>
      <p:sp>
        <p:nvSpPr>
          <p:cNvPr id="66" name="Rectangle 8">
            <a:extLst>
              <a:ext uri="{FF2B5EF4-FFF2-40B4-BE49-F238E27FC236}">
                <a16:creationId xmlns:a16="http://schemas.microsoft.com/office/drawing/2014/main" id="{542283C4-CB20-3F82-E1A8-F255B56A2744}"/>
              </a:ext>
            </a:extLst>
          </p:cNvPr>
          <p:cNvSpPr/>
          <p:nvPr/>
        </p:nvSpPr>
        <p:spPr>
          <a:xfrm>
            <a:off x="554736" y="4077804"/>
            <a:ext cx="343160" cy="34316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46800" rIns="0" rtlCol="0" anchor="ctr" anchorCtr="0"/>
          <a:lstStyle/>
          <a:p>
            <a:pPr marL="0" marR="0" lvl="0" indent="0" algn="ctr" defTabSz="9142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2</a:t>
            </a:r>
          </a:p>
        </p:txBody>
      </p:sp>
      <p:sp>
        <p:nvSpPr>
          <p:cNvPr id="77" name="TextBox 53">
            <a:extLst>
              <a:ext uri="{FF2B5EF4-FFF2-40B4-BE49-F238E27FC236}">
                <a16:creationId xmlns:a16="http://schemas.microsoft.com/office/drawing/2014/main" id="{823F9297-FD7C-667F-47F8-236EA2806238}"/>
              </a:ext>
            </a:extLst>
          </p:cNvPr>
          <p:cNvSpPr txBox="1"/>
          <p:nvPr/>
        </p:nvSpPr>
        <p:spPr>
          <a:xfrm>
            <a:off x="988545" y="4095674"/>
            <a:ext cx="2037740" cy="307420"/>
          </a:xfrm>
          <a:prstGeom prst="rect">
            <a:avLst/>
          </a:prstGeom>
          <a:noFill/>
          <a:ln>
            <a:noFill/>
          </a:ln>
        </p:spPr>
        <p:txBody>
          <a:bodyPr wrap="square" lIns="0" tIns="108000" rIns="108000" bIns="72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dirty="0"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[</a:t>
            </a:r>
            <a:r>
              <a:rPr kumimoji="0" lang="en-GB" sz="12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Insert initiative]</a:t>
            </a:r>
          </a:p>
        </p:txBody>
      </p:sp>
      <p:sp>
        <p:nvSpPr>
          <p:cNvPr id="86" name="Rectangle 8">
            <a:extLst>
              <a:ext uri="{FF2B5EF4-FFF2-40B4-BE49-F238E27FC236}">
                <a16:creationId xmlns:a16="http://schemas.microsoft.com/office/drawing/2014/main" id="{3E807E7A-A601-91F0-CE15-710D83C5090E}"/>
              </a:ext>
            </a:extLst>
          </p:cNvPr>
          <p:cNvSpPr/>
          <p:nvPr/>
        </p:nvSpPr>
        <p:spPr>
          <a:xfrm>
            <a:off x="554736" y="4680506"/>
            <a:ext cx="343160" cy="34316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46800" rIns="0" rtlCol="0" anchor="ctr" anchorCtr="0"/>
          <a:lstStyle/>
          <a:p>
            <a:pPr marL="0" marR="0" lvl="0" indent="0" algn="ctr" defTabSz="9142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3</a:t>
            </a:r>
          </a:p>
        </p:txBody>
      </p:sp>
      <p:sp>
        <p:nvSpPr>
          <p:cNvPr id="91" name="TextBox 53">
            <a:extLst>
              <a:ext uri="{FF2B5EF4-FFF2-40B4-BE49-F238E27FC236}">
                <a16:creationId xmlns:a16="http://schemas.microsoft.com/office/drawing/2014/main" id="{25899ED2-CCAE-BBF8-D2BF-95B73CC79F4D}"/>
              </a:ext>
            </a:extLst>
          </p:cNvPr>
          <p:cNvSpPr txBox="1"/>
          <p:nvPr/>
        </p:nvSpPr>
        <p:spPr>
          <a:xfrm>
            <a:off x="988545" y="4698375"/>
            <a:ext cx="2037740" cy="307420"/>
          </a:xfrm>
          <a:prstGeom prst="rect">
            <a:avLst/>
          </a:prstGeom>
          <a:noFill/>
          <a:ln>
            <a:noFill/>
          </a:ln>
        </p:spPr>
        <p:txBody>
          <a:bodyPr wrap="square" lIns="0" tIns="108000" rIns="108000" bIns="72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dirty="0"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[</a:t>
            </a:r>
            <a:r>
              <a:rPr kumimoji="0" lang="en-GB" sz="12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Insert initiative]</a:t>
            </a:r>
          </a:p>
        </p:txBody>
      </p:sp>
      <p:sp>
        <p:nvSpPr>
          <p:cNvPr id="110" name="Rectangle 8">
            <a:extLst>
              <a:ext uri="{FF2B5EF4-FFF2-40B4-BE49-F238E27FC236}">
                <a16:creationId xmlns:a16="http://schemas.microsoft.com/office/drawing/2014/main" id="{8459B96F-CB55-353A-564B-BDB12B7A47EA}"/>
              </a:ext>
            </a:extLst>
          </p:cNvPr>
          <p:cNvSpPr/>
          <p:nvPr/>
        </p:nvSpPr>
        <p:spPr>
          <a:xfrm>
            <a:off x="554736" y="5283208"/>
            <a:ext cx="343160" cy="34316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46800" rIns="0" rtlCol="0" anchor="ctr" anchorCtr="0"/>
          <a:lstStyle/>
          <a:p>
            <a:pPr marL="0" marR="0" lvl="0" indent="0" algn="ctr" defTabSz="9142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4</a:t>
            </a:r>
          </a:p>
        </p:txBody>
      </p:sp>
      <p:sp>
        <p:nvSpPr>
          <p:cNvPr id="113" name="TextBox 53">
            <a:extLst>
              <a:ext uri="{FF2B5EF4-FFF2-40B4-BE49-F238E27FC236}">
                <a16:creationId xmlns:a16="http://schemas.microsoft.com/office/drawing/2014/main" id="{884C53DF-52EC-D972-7924-B62E9D0601D7}"/>
              </a:ext>
            </a:extLst>
          </p:cNvPr>
          <p:cNvSpPr txBox="1"/>
          <p:nvPr/>
        </p:nvSpPr>
        <p:spPr>
          <a:xfrm>
            <a:off x="988545" y="5301077"/>
            <a:ext cx="2037740" cy="307420"/>
          </a:xfrm>
          <a:prstGeom prst="rect">
            <a:avLst/>
          </a:prstGeom>
          <a:noFill/>
          <a:ln>
            <a:noFill/>
          </a:ln>
        </p:spPr>
        <p:txBody>
          <a:bodyPr wrap="square" lIns="0" tIns="108000" rIns="108000" bIns="72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dirty="0"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[</a:t>
            </a:r>
            <a:r>
              <a:rPr kumimoji="0" lang="en-GB" sz="12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Insert initiative]</a:t>
            </a:r>
          </a:p>
        </p:txBody>
      </p:sp>
      <p:sp>
        <p:nvSpPr>
          <p:cNvPr id="163" name="Rectangle 8">
            <a:extLst>
              <a:ext uri="{FF2B5EF4-FFF2-40B4-BE49-F238E27FC236}">
                <a16:creationId xmlns:a16="http://schemas.microsoft.com/office/drawing/2014/main" id="{D3B40489-ED39-815F-79F8-5BAEE5E75274}"/>
              </a:ext>
            </a:extLst>
          </p:cNvPr>
          <p:cNvSpPr/>
          <p:nvPr/>
        </p:nvSpPr>
        <p:spPr>
          <a:xfrm>
            <a:off x="554736" y="5885909"/>
            <a:ext cx="343160" cy="34316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46800" rIns="0" rtlCol="0" anchor="ctr" anchorCtr="0"/>
          <a:lstStyle/>
          <a:p>
            <a:pPr marL="0" marR="0" lvl="0" indent="0" algn="ctr" defTabSz="9142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5</a:t>
            </a:r>
          </a:p>
        </p:txBody>
      </p:sp>
      <p:sp>
        <p:nvSpPr>
          <p:cNvPr id="166" name="TextBox 53">
            <a:extLst>
              <a:ext uri="{FF2B5EF4-FFF2-40B4-BE49-F238E27FC236}">
                <a16:creationId xmlns:a16="http://schemas.microsoft.com/office/drawing/2014/main" id="{466FF085-5C65-33E6-0D42-701D0FB55E26}"/>
              </a:ext>
            </a:extLst>
          </p:cNvPr>
          <p:cNvSpPr txBox="1"/>
          <p:nvPr/>
        </p:nvSpPr>
        <p:spPr>
          <a:xfrm>
            <a:off x="988545" y="5903779"/>
            <a:ext cx="2037740" cy="307420"/>
          </a:xfrm>
          <a:prstGeom prst="rect">
            <a:avLst/>
          </a:prstGeom>
          <a:noFill/>
          <a:ln>
            <a:noFill/>
          </a:ln>
        </p:spPr>
        <p:txBody>
          <a:bodyPr wrap="square" lIns="0" tIns="108000" rIns="108000" bIns="72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dirty="0"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[</a:t>
            </a:r>
            <a:r>
              <a:rPr kumimoji="0" lang="en-GB" sz="12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Insert initiative]</a:t>
            </a:r>
          </a:p>
        </p:txBody>
      </p:sp>
      <p:sp>
        <p:nvSpPr>
          <p:cNvPr id="16" name="TextBox 24">
            <a:extLst>
              <a:ext uri="{FF2B5EF4-FFF2-40B4-BE49-F238E27FC236}">
                <a16:creationId xmlns:a16="http://schemas.microsoft.com/office/drawing/2014/main" id="{AF9769CE-61DF-59BE-69DA-7466F1536DCE}"/>
              </a:ext>
            </a:extLst>
          </p:cNvPr>
          <p:cNvSpPr txBox="1"/>
          <p:nvPr/>
        </p:nvSpPr>
        <p:spPr>
          <a:xfrm>
            <a:off x="10797071" y="2992147"/>
            <a:ext cx="857900" cy="2933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00" b="1" dirty="0"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Status</a:t>
            </a:r>
          </a:p>
        </p:txBody>
      </p:sp>
      <p:cxnSp>
        <p:nvCxnSpPr>
          <p:cNvPr id="17" name="Conector recto 9">
            <a:extLst>
              <a:ext uri="{FF2B5EF4-FFF2-40B4-BE49-F238E27FC236}">
                <a16:creationId xmlns:a16="http://schemas.microsoft.com/office/drawing/2014/main" id="{6E2BE6A9-6FCF-CFE1-FB48-AA5D573C71CB}"/>
              </a:ext>
            </a:extLst>
          </p:cNvPr>
          <p:cNvCxnSpPr>
            <a:cxnSpLocks/>
          </p:cNvCxnSpPr>
          <p:nvPr/>
        </p:nvCxnSpPr>
        <p:spPr>
          <a:xfrm>
            <a:off x="10797071" y="3285527"/>
            <a:ext cx="8579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3C6132E-BDAD-92A1-66DF-4315355783C3}"/>
              </a:ext>
            </a:extLst>
          </p:cNvPr>
          <p:cNvSpPr txBox="1">
            <a:spLocks/>
          </p:cNvSpPr>
          <p:nvPr/>
        </p:nvSpPr>
        <p:spPr>
          <a:xfrm>
            <a:off x="10797071" y="3372154"/>
            <a:ext cx="857900" cy="54905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90000" tIns="36000" rIns="89988" bIns="36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defTabSz="2285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D250C77-B8C2-539B-A00F-633F061ACE6B}"/>
              </a:ext>
            </a:extLst>
          </p:cNvPr>
          <p:cNvSpPr/>
          <p:nvPr/>
        </p:nvSpPr>
        <p:spPr>
          <a:xfrm>
            <a:off x="10894667" y="3566917"/>
            <a:ext cx="159530" cy="1595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74F8983-74D3-A4E7-880F-5EFCF435E661}"/>
              </a:ext>
            </a:extLst>
          </p:cNvPr>
          <p:cNvSpPr/>
          <p:nvPr/>
        </p:nvSpPr>
        <p:spPr>
          <a:xfrm>
            <a:off x="11146258" y="3566917"/>
            <a:ext cx="159530" cy="159529"/>
          </a:xfrm>
          <a:prstGeom prst="ellips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898C18A-0633-33FE-F3FA-C6DF71E74E02}"/>
              </a:ext>
            </a:extLst>
          </p:cNvPr>
          <p:cNvSpPr/>
          <p:nvPr/>
        </p:nvSpPr>
        <p:spPr>
          <a:xfrm>
            <a:off x="11397847" y="3566917"/>
            <a:ext cx="159530" cy="1595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4" name="Text Placeholder 6">
            <a:extLst>
              <a:ext uri="{FF2B5EF4-FFF2-40B4-BE49-F238E27FC236}">
                <a16:creationId xmlns:a16="http://schemas.microsoft.com/office/drawing/2014/main" id="{0FDDE0A5-3B2C-23F9-24DD-F43A33A78B15}"/>
              </a:ext>
            </a:extLst>
          </p:cNvPr>
          <p:cNvSpPr txBox="1">
            <a:spLocks/>
          </p:cNvSpPr>
          <p:nvPr/>
        </p:nvSpPr>
        <p:spPr>
          <a:xfrm>
            <a:off x="10797071" y="3974856"/>
            <a:ext cx="857900" cy="54905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90000" tIns="36000" rIns="89988" bIns="36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defTabSz="2285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88" name="Text Placeholder 6">
            <a:extLst>
              <a:ext uri="{FF2B5EF4-FFF2-40B4-BE49-F238E27FC236}">
                <a16:creationId xmlns:a16="http://schemas.microsoft.com/office/drawing/2014/main" id="{46447961-7517-D495-37F2-521DD54A37D6}"/>
              </a:ext>
            </a:extLst>
          </p:cNvPr>
          <p:cNvSpPr txBox="1">
            <a:spLocks/>
          </p:cNvSpPr>
          <p:nvPr/>
        </p:nvSpPr>
        <p:spPr>
          <a:xfrm>
            <a:off x="10797071" y="4577558"/>
            <a:ext cx="857900" cy="54905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90000" tIns="36000" rIns="89988" bIns="36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defTabSz="2285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11" name="Text Placeholder 6">
            <a:extLst>
              <a:ext uri="{FF2B5EF4-FFF2-40B4-BE49-F238E27FC236}">
                <a16:creationId xmlns:a16="http://schemas.microsoft.com/office/drawing/2014/main" id="{A93E831F-4C8F-1874-2C8F-B57F83567945}"/>
              </a:ext>
            </a:extLst>
          </p:cNvPr>
          <p:cNvSpPr txBox="1">
            <a:spLocks/>
          </p:cNvSpPr>
          <p:nvPr/>
        </p:nvSpPr>
        <p:spPr>
          <a:xfrm>
            <a:off x="10797071" y="5180260"/>
            <a:ext cx="857900" cy="54905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90000" tIns="36000" rIns="89988" bIns="36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defTabSz="2285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64" name="Text Placeholder 6">
            <a:extLst>
              <a:ext uri="{FF2B5EF4-FFF2-40B4-BE49-F238E27FC236}">
                <a16:creationId xmlns:a16="http://schemas.microsoft.com/office/drawing/2014/main" id="{815E552A-BE20-A147-9229-66416922833A}"/>
              </a:ext>
            </a:extLst>
          </p:cNvPr>
          <p:cNvSpPr txBox="1">
            <a:spLocks/>
          </p:cNvSpPr>
          <p:nvPr/>
        </p:nvSpPr>
        <p:spPr>
          <a:xfrm>
            <a:off x="10797071" y="5782961"/>
            <a:ext cx="857900" cy="54905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90000" tIns="36000" rIns="89988" bIns="36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defTabSz="2285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EE1A8A65-3CA9-E318-8734-313EC183798C}"/>
              </a:ext>
            </a:extLst>
          </p:cNvPr>
          <p:cNvSpPr/>
          <p:nvPr/>
        </p:nvSpPr>
        <p:spPr>
          <a:xfrm>
            <a:off x="10894926" y="4169772"/>
            <a:ext cx="160141" cy="160141"/>
          </a:xfrm>
          <a:prstGeom prst="ellipse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6B822D16-90E9-F194-2E5E-3D5EF256C56E}"/>
              </a:ext>
            </a:extLst>
          </p:cNvPr>
          <p:cNvSpPr/>
          <p:nvPr/>
        </p:nvSpPr>
        <p:spPr>
          <a:xfrm>
            <a:off x="11147482" y="4169772"/>
            <a:ext cx="160141" cy="160141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71837755-B163-754A-35D6-48D01A219E5B}"/>
              </a:ext>
            </a:extLst>
          </p:cNvPr>
          <p:cNvSpPr/>
          <p:nvPr/>
        </p:nvSpPr>
        <p:spPr>
          <a:xfrm>
            <a:off x="11400037" y="4169772"/>
            <a:ext cx="160141" cy="160141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90182791-0199-B03B-D3EC-CF87ECE6E6D3}"/>
              </a:ext>
            </a:extLst>
          </p:cNvPr>
          <p:cNvSpPr/>
          <p:nvPr/>
        </p:nvSpPr>
        <p:spPr>
          <a:xfrm>
            <a:off x="10894926" y="4772474"/>
            <a:ext cx="160141" cy="160141"/>
          </a:xfrm>
          <a:prstGeom prst="ellipse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6C94475C-0F04-9C1A-355C-3DD7DFD9BAFA}"/>
              </a:ext>
            </a:extLst>
          </p:cNvPr>
          <p:cNvSpPr/>
          <p:nvPr/>
        </p:nvSpPr>
        <p:spPr>
          <a:xfrm>
            <a:off x="11147482" y="4772474"/>
            <a:ext cx="160141" cy="160141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E59D35B7-1551-5FAD-CF45-A7E000CCA497}"/>
              </a:ext>
            </a:extLst>
          </p:cNvPr>
          <p:cNvSpPr/>
          <p:nvPr/>
        </p:nvSpPr>
        <p:spPr>
          <a:xfrm>
            <a:off x="11400037" y="4772474"/>
            <a:ext cx="160141" cy="160141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45333F72-07F7-F052-87C3-69108B3C3213}"/>
              </a:ext>
            </a:extLst>
          </p:cNvPr>
          <p:cNvSpPr/>
          <p:nvPr/>
        </p:nvSpPr>
        <p:spPr>
          <a:xfrm>
            <a:off x="10894926" y="5375176"/>
            <a:ext cx="160141" cy="160141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FEF21651-8B52-CD31-C7CD-55ADFEB341FC}"/>
              </a:ext>
            </a:extLst>
          </p:cNvPr>
          <p:cNvSpPr/>
          <p:nvPr/>
        </p:nvSpPr>
        <p:spPr>
          <a:xfrm>
            <a:off x="11147482" y="5375176"/>
            <a:ext cx="160141" cy="160141"/>
          </a:xfrm>
          <a:prstGeom prst="ellips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156142F9-67E4-C695-8E1C-3DD0EC14B200}"/>
              </a:ext>
            </a:extLst>
          </p:cNvPr>
          <p:cNvSpPr/>
          <p:nvPr/>
        </p:nvSpPr>
        <p:spPr>
          <a:xfrm>
            <a:off x="11400037" y="5375176"/>
            <a:ext cx="160141" cy="160141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271C8956-2E7B-946B-6C59-8941DB7B7D3C}"/>
              </a:ext>
            </a:extLst>
          </p:cNvPr>
          <p:cNvSpPr/>
          <p:nvPr/>
        </p:nvSpPr>
        <p:spPr>
          <a:xfrm>
            <a:off x="10894926" y="5976959"/>
            <a:ext cx="160141" cy="160141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6A60B75A-9721-BF07-6744-77E2389DE9B3}"/>
              </a:ext>
            </a:extLst>
          </p:cNvPr>
          <p:cNvSpPr/>
          <p:nvPr/>
        </p:nvSpPr>
        <p:spPr>
          <a:xfrm>
            <a:off x="11147482" y="5976959"/>
            <a:ext cx="160141" cy="160141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ED99047D-4DFF-E2BC-71D6-F5BD5CF93017}"/>
              </a:ext>
            </a:extLst>
          </p:cNvPr>
          <p:cNvSpPr/>
          <p:nvPr/>
        </p:nvSpPr>
        <p:spPr>
          <a:xfrm>
            <a:off x="11400037" y="5976959"/>
            <a:ext cx="160141" cy="160141"/>
          </a:xfrm>
          <a:prstGeom prst="ellipse">
            <a:avLst/>
          </a:prstGeom>
          <a:solidFill>
            <a:srgbClr val="E5546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Triangle 22">
            <a:extLst>
              <a:ext uri="{FF2B5EF4-FFF2-40B4-BE49-F238E27FC236}">
                <a16:creationId xmlns:a16="http://schemas.microsoft.com/office/drawing/2014/main" id="{C1FAFDD3-3FA3-0A29-B8BE-60F3E795F370}"/>
              </a:ext>
            </a:extLst>
          </p:cNvPr>
          <p:cNvSpPr/>
          <p:nvPr/>
        </p:nvSpPr>
        <p:spPr>
          <a:xfrm rot="5400000">
            <a:off x="3161127" y="3541605"/>
            <a:ext cx="287490" cy="210154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8" name="Triangle 22">
            <a:extLst>
              <a:ext uri="{FF2B5EF4-FFF2-40B4-BE49-F238E27FC236}">
                <a16:creationId xmlns:a16="http://schemas.microsoft.com/office/drawing/2014/main" id="{3F192972-2ED5-6BB7-BCB4-59E278080767}"/>
              </a:ext>
            </a:extLst>
          </p:cNvPr>
          <p:cNvSpPr/>
          <p:nvPr/>
        </p:nvSpPr>
        <p:spPr>
          <a:xfrm rot="5400000">
            <a:off x="3161127" y="4144308"/>
            <a:ext cx="287490" cy="210154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9" name="Triangle 22">
            <a:extLst>
              <a:ext uri="{FF2B5EF4-FFF2-40B4-BE49-F238E27FC236}">
                <a16:creationId xmlns:a16="http://schemas.microsoft.com/office/drawing/2014/main" id="{9F6325D9-0569-516B-573D-BEEE26768BBC}"/>
              </a:ext>
            </a:extLst>
          </p:cNvPr>
          <p:cNvSpPr/>
          <p:nvPr/>
        </p:nvSpPr>
        <p:spPr>
          <a:xfrm rot="5400000">
            <a:off x="3161127" y="4747010"/>
            <a:ext cx="287490" cy="210154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11" name="Triangle 22">
            <a:extLst>
              <a:ext uri="{FF2B5EF4-FFF2-40B4-BE49-F238E27FC236}">
                <a16:creationId xmlns:a16="http://schemas.microsoft.com/office/drawing/2014/main" id="{33C27103-C27F-605D-55A9-5CE4BB54A9FC}"/>
              </a:ext>
            </a:extLst>
          </p:cNvPr>
          <p:cNvSpPr/>
          <p:nvPr/>
        </p:nvSpPr>
        <p:spPr>
          <a:xfrm rot="5400000">
            <a:off x="3161127" y="5349712"/>
            <a:ext cx="287490" cy="210154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13" name="Triangle 22">
            <a:extLst>
              <a:ext uri="{FF2B5EF4-FFF2-40B4-BE49-F238E27FC236}">
                <a16:creationId xmlns:a16="http://schemas.microsoft.com/office/drawing/2014/main" id="{D7390BDA-35E4-0A2D-EA2C-BAE538640EAF}"/>
              </a:ext>
            </a:extLst>
          </p:cNvPr>
          <p:cNvSpPr/>
          <p:nvPr/>
        </p:nvSpPr>
        <p:spPr>
          <a:xfrm rot="5400000">
            <a:off x="3161127" y="5952413"/>
            <a:ext cx="287490" cy="210154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57884E7-D6AB-0175-3C4A-894274657A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Box 53">
            <a:extLst>
              <a:ext uri="{FF2B5EF4-FFF2-40B4-BE49-F238E27FC236}">
                <a16:creationId xmlns:a16="http://schemas.microsoft.com/office/drawing/2014/main" id="{D74D8184-8E2E-C058-84E2-F23AC0A5AA1E}"/>
              </a:ext>
            </a:extLst>
          </p:cNvPr>
          <p:cNvSpPr txBox="1"/>
          <p:nvPr/>
        </p:nvSpPr>
        <p:spPr>
          <a:xfrm>
            <a:off x="3542694" y="3492972"/>
            <a:ext cx="7182456" cy="307420"/>
          </a:xfrm>
          <a:prstGeom prst="rect">
            <a:avLst/>
          </a:prstGeom>
          <a:noFill/>
          <a:ln>
            <a:noFill/>
          </a:ln>
        </p:spPr>
        <p:txBody>
          <a:bodyPr wrap="square" lIns="0" tIns="108000" rIns="108000" bIns="72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dirty="0"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[Insert status update in words]</a:t>
            </a:r>
            <a:endParaRPr kumimoji="0" lang="en-GB" sz="12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3AA2D4F-1D3D-86CB-74CE-C07F789077B6}"/>
              </a:ext>
            </a:extLst>
          </p:cNvPr>
          <p:cNvCxnSpPr>
            <a:cxnSpLocks/>
          </p:cNvCxnSpPr>
          <p:nvPr/>
        </p:nvCxnSpPr>
        <p:spPr>
          <a:xfrm>
            <a:off x="554736" y="3948033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AADA7D9-F907-8696-F5C5-3159998ACA1D}"/>
              </a:ext>
            </a:extLst>
          </p:cNvPr>
          <p:cNvCxnSpPr>
            <a:cxnSpLocks/>
          </p:cNvCxnSpPr>
          <p:nvPr/>
        </p:nvCxnSpPr>
        <p:spPr>
          <a:xfrm>
            <a:off x="554736" y="4550735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C61ABE-0637-CCC1-AC74-A9DEC02DBCE7}"/>
              </a:ext>
            </a:extLst>
          </p:cNvPr>
          <p:cNvCxnSpPr>
            <a:cxnSpLocks/>
          </p:cNvCxnSpPr>
          <p:nvPr/>
        </p:nvCxnSpPr>
        <p:spPr>
          <a:xfrm>
            <a:off x="554736" y="5153437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22E1019-7103-336C-C84F-AADCA7367C5D}"/>
              </a:ext>
            </a:extLst>
          </p:cNvPr>
          <p:cNvCxnSpPr>
            <a:cxnSpLocks/>
          </p:cNvCxnSpPr>
          <p:nvPr/>
        </p:nvCxnSpPr>
        <p:spPr>
          <a:xfrm>
            <a:off x="554736" y="5756139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53">
            <a:extLst>
              <a:ext uri="{FF2B5EF4-FFF2-40B4-BE49-F238E27FC236}">
                <a16:creationId xmlns:a16="http://schemas.microsoft.com/office/drawing/2014/main" id="{207802FD-E4B0-9FB7-72A2-24C38B53872F}"/>
              </a:ext>
            </a:extLst>
          </p:cNvPr>
          <p:cNvSpPr txBox="1"/>
          <p:nvPr/>
        </p:nvSpPr>
        <p:spPr>
          <a:xfrm>
            <a:off x="3542694" y="4095674"/>
            <a:ext cx="7182456" cy="307420"/>
          </a:xfrm>
          <a:prstGeom prst="rect">
            <a:avLst/>
          </a:prstGeom>
          <a:noFill/>
          <a:ln>
            <a:noFill/>
          </a:ln>
        </p:spPr>
        <p:txBody>
          <a:bodyPr wrap="square" lIns="0" tIns="108000" rIns="108000" bIns="72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dirty="0"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[Insert status update in words]</a:t>
            </a:r>
            <a:endParaRPr kumimoji="0" lang="en-GB" sz="12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7" name="TextBox 53">
            <a:extLst>
              <a:ext uri="{FF2B5EF4-FFF2-40B4-BE49-F238E27FC236}">
                <a16:creationId xmlns:a16="http://schemas.microsoft.com/office/drawing/2014/main" id="{80E5F88E-B9C7-6972-ADB8-C3184AABABCF}"/>
              </a:ext>
            </a:extLst>
          </p:cNvPr>
          <p:cNvSpPr txBox="1"/>
          <p:nvPr/>
        </p:nvSpPr>
        <p:spPr>
          <a:xfrm>
            <a:off x="3542694" y="4698376"/>
            <a:ext cx="7182456" cy="307420"/>
          </a:xfrm>
          <a:prstGeom prst="rect">
            <a:avLst/>
          </a:prstGeom>
          <a:noFill/>
          <a:ln>
            <a:noFill/>
          </a:ln>
        </p:spPr>
        <p:txBody>
          <a:bodyPr wrap="square" lIns="0" tIns="108000" rIns="108000" bIns="72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dirty="0"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[Insert status update in words]</a:t>
            </a:r>
            <a:endParaRPr kumimoji="0" lang="en-GB" sz="12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8" name="TextBox 53">
            <a:extLst>
              <a:ext uri="{FF2B5EF4-FFF2-40B4-BE49-F238E27FC236}">
                <a16:creationId xmlns:a16="http://schemas.microsoft.com/office/drawing/2014/main" id="{EB1A6E95-34A4-8FF7-F2F3-CC985CAB005E}"/>
              </a:ext>
            </a:extLst>
          </p:cNvPr>
          <p:cNvSpPr txBox="1"/>
          <p:nvPr/>
        </p:nvSpPr>
        <p:spPr>
          <a:xfrm>
            <a:off x="3542694" y="5301078"/>
            <a:ext cx="7182456" cy="307420"/>
          </a:xfrm>
          <a:prstGeom prst="rect">
            <a:avLst/>
          </a:prstGeom>
          <a:noFill/>
          <a:ln>
            <a:noFill/>
          </a:ln>
        </p:spPr>
        <p:txBody>
          <a:bodyPr wrap="square" lIns="0" tIns="108000" rIns="108000" bIns="72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dirty="0"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[Insert status update in words]</a:t>
            </a:r>
            <a:endParaRPr kumimoji="0" lang="en-GB" sz="12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9" name="TextBox 53">
            <a:extLst>
              <a:ext uri="{FF2B5EF4-FFF2-40B4-BE49-F238E27FC236}">
                <a16:creationId xmlns:a16="http://schemas.microsoft.com/office/drawing/2014/main" id="{E295E2CB-DD7D-FB6A-1F9F-AD2737C1582F}"/>
              </a:ext>
            </a:extLst>
          </p:cNvPr>
          <p:cNvSpPr txBox="1"/>
          <p:nvPr/>
        </p:nvSpPr>
        <p:spPr>
          <a:xfrm>
            <a:off x="3542694" y="5903779"/>
            <a:ext cx="7182456" cy="307420"/>
          </a:xfrm>
          <a:prstGeom prst="rect">
            <a:avLst/>
          </a:prstGeom>
          <a:noFill/>
          <a:ln>
            <a:noFill/>
          </a:ln>
        </p:spPr>
        <p:txBody>
          <a:bodyPr wrap="square" lIns="0" tIns="108000" rIns="108000" bIns="72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dirty="0"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[Insert status update in words]</a:t>
            </a:r>
            <a:endParaRPr kumimoji="0" lang="en-GB" sz="12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87546B-E5A8-FD2A-654C-E054041F052E}"/>
              </a:ext>
            </a:extLst>
          </p:cNvPr>
          <p:cNvSpPr/>
          <p:nvPr/>
        </p:nvSpPr>
        <p:spPr>
          <a:xfrm>
            <a:off x="554735" y="1449035"/>
            <a:ext cx="5436000" cy="131341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Overall status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[Give an overall status on project including any major developments since last report or any key changes]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5A44D14-008A-DD10-347D-9D8AA345C2A4}"/>
              </a:ext>
            </a:extLst>
          </p:cNvPr>
          <p:cNvSpPr/>
          <p:nvPr/>
        </p:nvSpPr>
        <p:spPr>
          <a:xfrm>
            <a:off x="6201264" y="1449035"/>
            <a:ext cx="5436000" cy="131341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Concerns or risks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any concerns or risks that should be tracked]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any concerns or risks that should be tracked]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any concerns or risks that should be tracked]</a:t>
            </a:r>
          </a:p>
        </p:txBody>
      </p:sp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73915916-A556-EF0B-63DA-8C878F45531F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E27C7EA-C80A-CE03-B80A-4CB909A83B4F}"/>
              </a:ext>
            </a:extLst>
          </p:cNvPr>
          <p:cNvGrpSpPr/>
          <p:nvPr/>
        </p:nvGrpSpPr>
        <p:grpSpPr>
          <a:xfrm>
            <a:off x="9366272" y="882356"/>
            <a:ext cx="2390116" cy="365125"/>
            <a:chOff x="467806" y="6127919"/>
            <a:chExt cx="2390116" cy="365125"/>
          </a:xfrm>
        </p:grpSpPr>
        <p:sp>
          <p:nvSpPr>
            <p:cNvPr id="5" name="Google Shape;538;p14">
              <a:extLst>
                <a:ext uri="{FF2B5EF4-FFF2-40B4-BE49-F238E27FC236}">
                  <a16:creationId xmlns:a16="http://schemas.microsoft.com/office/drawing/2014/main" id="{2C92C6F0-B98A-F7CA-3761-B9E9BAFB54FE}"/>
                </a:ext>
              </a:extLst>
            </p:cNvPr>
            <p:cNvSpPr txBox="1"/>
            <p:nvPr/>
          </p:nvSpPr>
          <p:spPr>
            <a:xfrm>
              <a:off x="467806" y="6127919"/>
              <a:ext cx="2390116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Legend: </a:t>
              </a:r>
              <a:endParaRPr sz="900" dirty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Rectangle: Rounded Corners 52">
              <a:extLst>
                <a:ext uri="{FF2B5EF4-FFF2-40B4-BE49-F238E27FC236}">
                  <a16:creationId xmlns:a16="http://schemas.microsoft.com/office/drawing/2014/main" id="{86D22649-100A-2C5E-ABDD-53C6C83F4322}"/>
                </a:ext>
              </a:extLst>
            </p:cNvPr>
            <p:cNvSpPr/>
            <p:nvPr/>
          </p:nvSpPr>
          <p:spPr>
            <a:xfrm>
              <a:off x="2201455" y="6229028"/>
              <a:ext cx="532800" cy="162907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On track</a:t>
              </a:r>
            </a:p>
          </p:txBody>
        </p:sp>
        <p:sp>
          <p:nvSpPr>
            <p:cNvPr id="12" name="Rectangle: Rounded Corners 55">
              <a:extLst>
                <a:ext uri="{FF2B5EF4-FFF2-40B4-BE49-F238E27FC236}">
                  <a16:creationId xmlns:a16="http://schemas.microsoft.com/office/drawing/2014/main" id="{42E6BBDD-3BDF-8944-BDE4-A3550A3295AE}"/>
                </a:ext>
              </a:extLst>
            </p:cNvPr>
            <p:cNvSpPr/>
            <p:nvPr/>
          </p:nvSpPr>
          <p:spPr>
            <a:xfrm>
              <a:off x="1045391" y="6229028"/>
              <a:ext cx="533154" cy="162907"/>
            </a:xfrm>
            <a:prstGeom prst="roundRect">
              <a:avLst/>
            </a:prstGeom>
            <a:solidFill>
              <a:srgbClr val="E554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Critical</a:t>
              </a:r>
            </a:p>
          </p:txBody>
        </p:sp>
        <p:sp>
          <p:nvSpPr>
            <p:cNvPr id="20" name="Rectangle: Rounded Corners 62">
              <a:extLst>
                <a:ext uri="{FF2B5EF4-FFF2-40B4-BE49-F238E27FC236}">
                  <a16:creationId xmlns:a16="http://schemas.microsoft.com/office/drawing/2014/main" id="{3623CDD7-250A-4F6A-72D0-3E5EF5B1F630}"/>
                </a:ext>
              </a:extLst>
            </p:cNvPr>
            <p:cNvSpPr/>
            <p:nvPr/>
          </p:nvSpPr>
          <p:spPr>
            <a:xfrm>
              <a:off x="1623516" y="6229028"/>
              <a:ext cx="532800" cy="162907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>
              <a:defPPr>
                <a:defRPr lang="en-US"/>
              </a:defPPr>
              <a:lvl1pPr marL="0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At risk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11991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537</TotalTime>
  <Words>1487</Words>
  <Application>Microsoft Macintosh PowerPoint</Application>
  <PresentationFormat>Bredbild</PresentationFormat>
  <Paragraphs>349</Paragraphs>
  <Slides>7</Slides>
  <Notes>3</Notes>
  <HiddenSlides>0</HiddenSlides>
  <MMClips>0</MMClips>
  <ScaleCrop>false</ScaleCrop>
  <HeadingPairs>
    <vt:vector size="8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Serverprogram för OLE-inbäddning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4" baseType="lpstr">
      <vt:lpstr>Arial</vt:lpstr>
      <vt:lpstr>Segoe UI</vt:lpstr>
      <vt:lpstr>Times New Roman</vt:lpstr>
      <vt:lpstr>Verdana</vt:lpstr>
      <vt:lpstr>Wingdings</vt:lpstr>
      <vt:lpstr>Slideworks</vt:lpstr>
      <vt:lpstr>think-cell Slide</vt:lpstr>
      <vt:lpstr>We have just completed the Diagnostic stage of the three-stage Operational Excellence process</vt:lpstr>
      <vt:lpstr>This project will focus on the Due Diligence phase of the M&amp;A process </vt:lpstr>
      <vt:lpstr>[Project] will evolve through four main phases</vt:lpstr>
      <vt:lpstr>Project charter for Project [insert name]</vt:lpstr>
      <vt:lpstr>Project charter for Project [insert name]</vt:lpstr>
      <vt:lpstr>Project status report</vt:lpstr>
      <vt:lpstr>Status update [Insert date]: [Insert project name]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Project Management Toolkit</dc:title>
  <dc:subject>Project management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 </dc:description>
  <cp:lastModifiedBy>Carl Adam Briggert</cp:lastModifiedBy>
  <cp:revision>404</cp:revision>
  <dcterms:created xsi:type="dcterms:W3CDTF">2025-08-23T09:22:07Z</dcterms:created>
  <dcterms:modified xsi:type="dcterms:W3CDTF">2025-12-16T08:27:04Z</dcterms:modified>
  <cp:category>Management consulting, presentation design, business</cp:category>
</cp:coreProperties>
</file>